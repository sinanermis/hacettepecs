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97"/>
  </p:notesMasterIdLst>
  <p:sldIdLst>
    <p:sldId id="323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95" r:id="rId13"/>
    <p:sldId id="268" r:id="rId14"/>
    <p:sldId id="296" r:id="rId15"/>
    <p:sldId id="297" r:id="rId16"/>
    <p:sldId id="29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99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324" r:id="rId39"/>
    <p:sldId id="325" r:id="rId40"/>
    <p:sldId id="326" r:id="rId41"/>
    <p:sldId id="327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340" r:id="rId54"/>
    <p:sldId id="341" r:id="rId55"/>
    <p:sldId id="342" r:id="rId56"/>
    <p:sldId id="343" r:id="rId57"/>
    <p:sldId id="344" r:id="rId58"/>
    <p:sldId id="345" r:id="rId59"/>
    <p:sldId id="346" r:id="rId60"/>
    <p:sldId id="347" r:id="rId61"/>
    <p:sldId id="348" r:id="rId62"/>
    <p:sldId id="349" r:id="rId63"/>
    <p:sldId id="289" r:id="rId64"/>
    <p:sldId id="352" r:id="rId65"/>
    <p:sldId id="353" r:id="rId66"/>
    <p:sldId id="354" r:id="rId67"/>
    <p:sldId id="290" r:id="rId68"/>
    <p:sldId id="300" r:id="rId69"/>
    <p:sldId id="355" r:id="rId70"/>
    <p:sldId id="357" r:id="rId71"/>
    <p:sldId id="358" r:id="rId72"/>
    <p:sldId id="359" r:id="rId73"/>
    <p:sldId id="360" r:id="rId74"/>
    <p:sldId id="361" r:id="rId75"/>
    <p:sldId id="362" r:id="rId76"/>
    <p:sldId id="363" r:id="rId77"/>
    <p:sldId id="364" r:id="rId78"/>
    <p:sldId id="365" r:id="rId79"/>
    <p:sldId id="366" r:id="rId80"/>
    <p:sldId id="367" r:id="rId81"/>
    <p:sldId id="368" r:id="rId82"/>
    <p:sldId id="369" r:id="rId83"/>
    <p:sldId id="370" r:id="rId84"/>
    <p:sldId id="371" r:id="rId85"/>
    <p:sldId id="372" r:id="rId86"/>
    <p:sldId id="373" r:id="rId87"/>
    <p:sldId id="374" r:id="rId88"/>
    <p:sldId id="375" r:id="rId89"/>
    <p:sldId id="291" r:id="rId90"/>
    <p:sldId id="301" r:id="rId91"/>
    <p:sldId id="302" r:id="rId92"/>
    <p:sldId id="356" r:id="rId93"/>
    <p:sldId id="292" r:id="rId94"/>
    <p:sldId id="293" r:id="rId95"/>
    <p:sldId id="294" r:id="rId9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95"/>
    <p:restoredTop sz="94674"/>
  </p:normalViewPr>
  <p:slideViewPr>
    <p:cSldViewPr>
      <p:cViewPr varScale="1">
        <p:scale>
          <a:sx n="75" d="100"/>
          <a:sy n="75" d="100"/>
        </p:scale>
        <p:origin x="69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" charset="0"/>
                <a:cs typeface="+mn-cs"/>
              </a:defRPr>
            </a:lvl1pPr>
          </a:lstStyle>
          <a:p>
            <a:pPr>
              <a:defRPr/>
            </a:pPr>
            <a:fld id="{D473E0AF-7893-1C41-9551-785255B69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175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ED7200DA-AEF3-CA44-87AC-5500518DAAE0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9168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AFB10D03-4201-F041-8E35-05B2E7A7C63B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6335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B979F862-7A3E-D542-8872-53A20B1EDDE7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3560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2C2AF0F8-1359-D048-8F00-5D3743782F0C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9371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43EA0C28-DF95-6941-B697-CAA1ABFD8607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2005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F1A0E761-4F69-ED4A-98B2-1D60B30E6D71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7787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55A9CFD9-568D-5241-B4BC-13585FC7E4D2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7662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E31276C6-EB8F-7240-B252-F52336719A6B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6789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8685C422-5F9B-154A-8480-E4B5DF8DB6FB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2668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AA92A3B9-2AE5-BD42-B8EC-093D716A5490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ＭＳ Ｐゴシック" charset="0"/>
                <a:cs typeface="+mn-cs"/>
              </a:rPr>
              <a:t> The primary characteristics of clausal form propositions are the following: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Times" pitchFamily="18" charset="0"/>
                <a:ea typeface="ＭＳ Ｐゴシック" charset="0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ＭＳ Ｐゴシック" charset="0"/>
                <a:cs typeface="+mn-cs"/>
              </a:rPr>
              <a:t>Existential quantifiers are not required; universal quantifiers are implicit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ＭＳ Ｐゴシック" charset="0"/>
                <a:cs typeface="+mn-cs"/>
              </a:rPr>
              <a:t>in the use of variables in the atomic propositions; and no operators other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Times" pitchFamily="18" charset="0"/>
                <a:ea typeface="ＭＳ Ｐゴシック" charset="0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ＭＳ Ｐゴシック" charset="0"/>
                <a:cs typeface="+mn-cs"/>
              </a:rPr>
              <a:t>than conjunction and disjunction are required.</a:t>
            </a:r>
          </a:p>
          <a:p>
            <a:pPr eaLnBrk="1" hangingPunct="1"/>
            <a:endParaRPr lang="en-US" altLang="en-US" dirty="0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6459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15E39FB4-560E-E24D-985C-91BEABB029CA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8663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F7503354-DA29-204D-A247-05AD24E75A90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9459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44D53B03-7509-B44E-83D5-C56A3812085A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0927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A5E1D8C9-55FF-2549-A319-B0F169C22843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7507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80C95027-C871-1847-9E43-3A7EB0951261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7092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3AD7171F-4C62-DB43-B0DD-05AD108E292F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5514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5EFAF2AB-71F8-244D-8923-0CA6F3EBC78F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6253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F7942EB0-F446-E04B-B673-354AA74D904F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57524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1774FD5A-7EAE-E746-8AEC-E61F45766D75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8744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BC8C55F5-44D9-3145-A953-5845F39AC521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8346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0E5AAE9E-61EC-B548-8D19-88C1D0ED02CF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6765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90C2F74C-54C6-4D4B-9CD1-DD13159F4DC3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88313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CF58BBD4-CE7A-3141-B100-7EC5F1C6E861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8673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463A2033-021C-F440-A54F-F0C2805F0ED9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1649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794662E3-4654-7844-8594-D50DB73C2829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2355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BE93124F-586A-2540-9DB1-15553FCC4588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2931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43FD042B-9C6F-5240-AADC-FB80C3C2E85B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9825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F3FBFE2D-D546-FB4F-9C14-61A32240BDF5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49352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3D3FBDA3-5456-204B-A516-E991E2C158D8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27841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01B6CCE0-F67D-5B46-A5BE-6DE2E8E424AF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04411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695AE49A-1C10-3548-B3FA-108901BF7FF1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4626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21E649F8-FE4E-974A-854A-FE56D872915E}" type="slidenum">
              <a:rPr lang="en-US" altLang="en-US" sz="1200"/>
              <a:pPr/>
              <a:t>63</a:t>
            </a:fld>
            <a:endParaRPr lang="en-US" altLang="en-US" sz="120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8676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ED963D61-CB75-B540-B07E-DB63C19B31CA}" type="slidenum">
              <a:rPr lang="en-US" altLang="en-US" sz="1200"/>
              <a:pPr/>
              <a:t>67</a:t>
            </a:fld>
            <a:endParaRPr lang="en-US" altLang="en-US" sz="120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0058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D6D0D668-DF36-474F-903A-64DB5CC0D4AE}" type="slidenum">
              <a:rPr lang="en-US" altLang="en-US" sz="1200"/>
              <a:pPr/>
              <a:t>89</a:t>
            </a:fld>
            <a:endParaRPr lang="en-US" altLang="en-US" sz="120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4728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03A66A6F-C5AB-B04D-B29D-A68883E8DAD9}" type="slidenum">
              <a:rPr lang="en-US" altLang="en-US" sz="1200"/>
              <a:pPr/>
              <a:t>93</a:t>
            </a:fld>
            <a:endParaRPr lang="en-US" altLang="en-US" sz="120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70898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42FE3E12-5BE7-4A48-9F2C-9532E58CECCD}" type="slidenum">
              <a:rPr lang="en-US" altLang="en-US" sz="1200"/>
              <a:pPr/>
              <a:t>94</a:t>
            </a:fld>
            <a:endParaRPr lang="en-US" altLang="en-US" sz="120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79176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fld id="{65DE7797-C908-A840-B7E0-FB6B6F57612D}" type="slidenum">
              <a:rPr lang="en-US" altLang="en-US" sz="1200"/>
              <a:pPr/>
              <a:t>95</a:t>
            </a:fld>
            <a:endParaRPr lang="en-US" altLang="en-US" sz="120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412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B4FB46C2-ED6B-D943-8502-4C865B706C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5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6EAEA3EE-F5DF-3D42-9260-79533CA74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7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88A749A-CCCD-6B42-9970-084FB2A6F0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FBEC0CD-6ED7-804F-BE03-0AEA844155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3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031D11A4-DF25-FC4D-BD3C-C300C6D715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6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A93D75A2-A7C5-F248-91AA-7E468FBBD1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97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BDC5B07F-2BA5-5945-82A8-089D301CE1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8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2795C718-DDEC-684B-A9E4-282B24B3D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7FC75A9D-CABD-B24D-814F-7201C76F2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9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547CAC04-6E69-324E-9971-F39558BD06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458200" cy="838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b="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6AF07202-7A59-7541-9BCD-8196051A99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/>
          <a:ea typeface="ＭＳ Ｐゴシック" charset="0"/>
          <a:cs typeface="Calibri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charset="0"/>
          <a:ea typeface="ＭＳ Ｐゴシック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Calibri"/>
          <a:ea typeface="ＭＳ Ｐゴシック" charset="0"/>
          <a:cs typeface="Calibri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Calibri"/>
          <a:ea typeface="ＭＳ Ｐゴシック" charset="0"/>
          <a:cs typeface="Calibri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Calibri"/>
          <a:ea typeface="ＭＳ Ｐゴシック" charset="0"/>
          <a:cs typeface="Calibri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Calibri"/>
          <a:ea typeface="ＭＳ Ｐゴシック" charset="0"/>
          <a:cs typeface="Calibri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Calibri"/>
          <a:ea typeface="ＭＳ Ｐゴシック" charset="0"/>
          <a:cs typeface="Calibri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800000"/>
                </a:solidFill>
                <a:latin typeface="Calibri" charset="0"/>
              </a:rPr>
              <a:t>Logic Programming Languages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>
                <a:latin typeface="Lucida Sans Unicode" charset="0"/>
              </a:rPr>
              <a:t>BBM 301 – Programming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184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A5FD9150-6BE0-F848-BCD5-437AB3544B31}" type="slidenum">
              <a:rPr lang="en-US" altLang="en-US" sz="1000">
                <a:latin typeface="Arial" charset="0"/>
              </a:rPr>
              <a:pPr/>
              <a:t>2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Introduction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Programs in logic languages are expressed in a form of symbolic logic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Use a logical inferencing process to produce results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Declarative</a:t>
            </a:r>
            <a:r>
              <a:rPr lang="en-US" altLang="en-US">
                <a:ea typeface="ＭＳ Ｐゴシック" charset="-128"/>
              </a:rPr>
              <a:t> rather that </a:t>
            </a:r>
            <a:r>
              <a:rPr lang="en-US" altLang="en-US" i="1">
                <a:ea typeface="ＭＳ Ｐゴシック" charset="-128"/>
              </a:rPr>
              <a:t>procedural</a:t>
            </a:r>
            <a:r>
              <a:rPr lang="en-US" altLang="en-US">
                <a:ea typeface="ＭＳ Ｐゴシック" charset="-128"/>
              </a:rPr>
              <a:t>:</a:t>
            </a:r>
          </a:p>
          <a:p>
            <a:pPr lvl="1" eaLnBrk="1" hangingPunct="1"/>
            <a:r>
              <a:rPr lang="en-US" altLang="en-US"/>
              <a:t>Only specification of </a:t>
            </a:r>
            <a:r>
              <a:rPr lang="en-US" altLang="en-US" i="1"/>
              <a:t>results</a:t>
            </a:r>
            <a:r>
              <a:rPr lang="en-US" altLang="en-US"/>
              <a:t> are stated (not detailed </a:t>
            </a:r>
            <a:r>
              <a:rPr lang="en-US" altLang="en-US" i="1"/>
              <a:t>procedures</a:t>
            </a:r>
            <a:r>
              <a:rPr lang="en-US" altLang="en-US"/>
              <a:t> for producing them)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626AA514-3D76-B54B-8B95-665A8ACF7510}" type="slidenum">
              <a:rPr lang="en-US" altLang="en-US" sz="1000">
                <a:latin typeface="Arial" charset="0"/>
              </a:rPr>
              <a:pPr/>
              <a:t>3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534400" cy="12065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Proposition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A logical statement that may or may not be true</a:t>
            </a:r>
          </a:p>
          <a:p>
            <a:pPr lvl="1" eaLnBrk="1" hangingPunct="1"/>
            <a:r>
              <a:rPr lang="en-US" altLang="en-US"/>
              <a:t>Consists of objects and relationships of objects to each other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36BA28F7-8A4C-8C4B-93BE-A678540DD41F}" type="slidenum">
              <a:rPr lang="en-US" altLang="en-US" sz="1000">
                <a:latin typeface="Arial" charset="0"/>
              </a:rPr>
              <a:pPr/>
              <a:t>4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534400" cy="12065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Symbolic Logic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7244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Logic which can be used for the basic needs of formal logic:</a:t>
            </a:r>
          </a:p>
          <a:p>
            <a:pPr lvl="1" eaLnBrk="1" hangingPunct="1"/>
            <a:r>
              <a:rPr lang="en-US" altLang="en-US"/>
              <a:t>Express propositions</a:t>
            </a:r>
          </a:p>
          <a:p>
            <a:pPr lvl="1" eaLnBrk="1" hangingPunct="1"/>
            <a:r>
              <a:rPr lang="en-US" altLang="en-US"/>
              <a:t>Express relationships between propositions</a:t>
            </a:r>
          </a:p>
          <a:p>
            <a:pPr lvl="1" eaLnBrk="1" hangingPunct="1"/>
            <a:r>
              <a:rPr lang="en-US" altLang="en-US"/>
              <a:t>Describe how new propositions can be inferred from other propositions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Particular form of symbolic logic used for logic programming called </a:t>
            </a:r>
            <a:r>
              <a:rPr lang="en-US" altLang="en-US" i="1">
                <a:ea typeface="ＭＳ Ｐゴシック" charset="-128"/>
              </a:rPr>
              <a:t>predicate</a:t>
            </a:r>
            <a:r>
              <a:rPr lang="en-US" altLang="en-US">
                <a:ea typeface="ＭＳ Ｐゴシック" charset="-128"/>
              </a:rPr>
              <a:t> </a:t>
            </a:r>
            <a:r>
              <a:rPr lang="en-US" altLang="en-US" i="1">
                <a:ea typeface="ＭＳ Ｐゴシック" charset="-128"/>
              </a:rPr>
              <a:t>calculus</a:t>
            </a:r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FA399DD4-F04B-0A46-9C80-2CB84E80876B}" type="slidenum">
              <a:rPr lang="en-US" altLang="en-US" sz="1000">
                <a:latin typeface="Arial" charset="0"/>
              </a:rPr>
              <a:pPr/>
              <a:t>5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Object Representation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Objects in propositions are represented by simple terms: either constants or variables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Constant</a:t>
            </a:r>
            <a:r>
              <a:rPr lang="en-US" altLang="en-US">
                <a:ea typeface="ＭＳ Ｐゴシック" charset="-128"/>
              </a:rPr>
              <a:t>: a symbol that represents an object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Variable</a:t>
            </a:r>
            <a:r>
              <a:rPr lang="en-US" altLang="en-US">
                <a:ea typeface="ＭＳ Ｐゴシック" charset="-128"/>
              </a:rPr>
              <a:t>: a symbol that can represent different objects at different times</a:t>
            </a:r>
          </a:p>
          <a:p>
            <a:pPr lvl="1" eaLnBrk="1" hangingPunct="1"/>
            <a:r>
              <a:rPr lang="en-US" altLang="en-US"/>
              <a:t>Different from variables in imperative languages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597248BE-8AC9-CF4E-9AE8-CEB34EB30FAB}" type="slidenum">
              <a:rPr lang="en-US" altLang="en-US" sz="1000">
                <a:latin typeface="Arial" charset="0"/>
              </a:rPr>
              <a:pPr/>
              <a:t>6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Compound Terms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>
                <a:ea typeface="ＭＳ Ｐゴシック" charset="-128"/>
              </a:rPr>
              <a:t>Atomic propositions</a:t>
            </a:r>
            <a:r>
              <a:rPr lang="en-US" altLang="en-US">
                <a:ea typeface="ＭＳ Ｐゴシック" charset="-128"/>
              </a:rPr>
              <a:t> consist of compound terms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Compound term</a:t>
            </a:r>
            <a:r>
              <a:rPr lang="en-US" altLang="en-US">
                <a:ea typeface="ＭＳ Ｐゴシック" charset="-128"/>
              </a:rPr>
              <a:t>: one element of a mathematical relation, written like a mathematical function</a:t>
            </a:r>
          </a:p>
          <a:p>
            <a:pPr lvl="1" eaLnBrk="1" hangingPunct="1"/>
            <a:r>
              <a:rPr lang="en-US" altLang="en-US"/>
              <a:t>Mathematical function is a mapping</a:t>
            </a:r>
          </a:p>
          <a:p>
            <a:pPr lvl="1" eaLnBrk="1" hangingPunct="1"/>
            <a:r>
              <a:rPr lang="en-US" altLang="en-US"/>
              <a:t>Can be written as a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286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585FCF89-9EC5-5343-9A7E-773E1D306B5F}" type="slidenum">
              <a:rPr lang="en-US" altLang="en-US" sz="1000">
                <a:latin typeface="Arial" charset="0"/>
              </a:rPr>
              <a:pPr/>
              <a:t>7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Parts of a Compound Term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7244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Compound term composed of two parts</a:t>
            </a:r>
          </a:p>
          <a:p>
            <a:pPr lvl="1" eaLnBrk="1" hangingPunct="1"/>
            <a:r>
              <a:rPr lang="en-US" altLang="en-US"/>
              <a:t>Functor: function symbol that names the relationship</a:t>
            </a:r>
          </a:p>
          <a:p>
            <a:pPr lvl="1" eaLnBrk="1" hangingPunct="1"/>
            <a:r>
              <a:rPr lang="en-US" altLang="en-US"/>
              <a:t>Ordered list of parameters (tuple)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Examples:</a:t>
            </a: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charset="-128"/>
              </a:rPr>
              <a:t>	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student(jon)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charset="0"/>
                <a:ea typeface="ＭＳ Ｐゴシック" charset="-128"/>
              </a:rPr>
              <a:t>	like(seth, OSX)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charset="0"/>
                <a:ea typeface="ＭＳ Ｐゴシック" charset="-128"/>
              </a:rPr>
              <a:t>	like(nick, windows)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charset="0"/>
                <a:ea typeface="ＭＳ Ｐゴシック" charset="-128"/>
              </a:rPr>
              <a:t>	like(jim, linux)</a:t>
            </a:r>
            <a:endParaRPr lang="en-US" altLang="en-US" sz="2000"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13102AA9-9F5D-1040-8E29-495B1A461AAF}" type="slidenum">
              <a:rPr lang="en-US" altLang="en-US" sz="1000">
                <a:latin typeface="Arial" charset="0"/>
              </a:rPr>
              <a:pPr/>
              <a:t>8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Forms of a Proposition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Propositions can be stated in two forms:</a:t>
            </a:r>
          </a:p>
          <a:p>
            <a:pPr lvl="1" eaLnBrk="1" hangingPunct="1"/>
            <a:r>
              <a:rPr lang="en-US" altLang="en-US" i="1"/>
              <a:t>Fact</a:t>
            </a:r>
            <a:r>
              <a:rPr lang="en-US" altLang="en-US"/>
              <a:t>: proposition is assumed to be true</a:t>
            </a:r>
          </a:p>
          <a:p>
            <a:pPr lvl="1" eaLnBrk="1" hangingPunct="1"/>
            <a:r>
              <a:rPr lang="en-US" altLang="en-US" i="1"/>
              <a:t>Query</a:t>
            </a:r>
            <a:r>
              <a:rPr lang="en-US" altLang="en-US"/>
              <a:t>: truth of proposition is to be determined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Compound proposition:</a:t>
            </a:r>
          </a:p>
          <a:p>
            <a:pPr lvl="1" eaLnBrk="1" hangingPunct="1"/>
            <a:r>
              <a:rPr lang="en-US" altLang="en-US"/>
              <a:t>Have two or more atomic propositions</a:t>
            </a:r>
          </a:p>
          <a:p>
            <a:pPr lvl="1" eaLnBrk="1" hangingPunct="1"/>
            <a:r>
              <a:rPr lang="en-US" altLang="en-US"/>
              <a:t>Propositions are connected by 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327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628A0D09-4998-644E-82F0-746A30183234}" type="slidenum">
              <a:rPr lang="en-US" altLang="en-US" sz="1000">
                <a:latin typeface="Arial" charset="0"/>
              </a:rPr>
              <a:pPr/>
              <a:t>9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Logical Operators</a:t>
            </a:r>
          </a:p>
        </p:txBody>
      </p:sp>
      <p:graphicFrame>
        <p:nvGraphicFramePr>
          <p:cNvPr id="15400" name="Group 40"/>
          <p:cNvGraphicFramePr>
            <a:graphicFrameLocks noGrp="1"/>
          </p:cNvGraphicFramePr>
          <p:nvPr/>
        </p:nvGraphicFramePr>
        <p:xfrm>
          <a:off x="609600" y="1487488"/>
          <a:ext cx="8229600" cy="4429766"/>
        </p:xfrm>
        <a:graphic>
          <a:graphicData uri="http://schemas.openxmlformats.org/drawingml/2006/table">
            <a:tbl>
              <a:tblPr/>
              <a:tblGrid>
                <a:gridCol w="2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Name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Symbol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Example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Meaning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negation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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-128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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not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conjunction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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-128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a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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a and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disjunction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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-128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a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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a or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equivalence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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-128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a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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a is equivalent to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implication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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-128"/>
                        <a:sym typeface="Math1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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-128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a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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a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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a implies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b implies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348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42E35B5C-B098-264C-8B81-9C2DCE1EE050}" type="slidenum">
              <a:rPr lang="en-US" altLang="en-US" sz="1000">
                <a:latin typeface="Arial" charset="0"/>
              </a:rPr>
              <a:pPr/>
              <a:t>10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Quantifiers</a:t>
            </a:r>
          </a:p>
        </p:txBody>
      </p:sp>
      <p:graphicFrame>
        <p:nvGraphicFramePr>
          <p:cNvPr id="16406" name="Group 22"/>
          <p:cNvGraphicFramePr>
            <a:graphicFrameLocks noGrp="1"/>
          </p:cNvGraphicFramePr>
          <p:nvPr/>
        </p:nvGraphicFramePr>
        <p:xfrm>
          <a:off x="609600" y="1905000"/>
          <a:ext cx="8172450" cy="2177060"/>
        </p:xfrm>
        <a:graphic>
          <a:graphicData uri="http://schemas.openxmlformats.org/drawingml/2006/table">
            <a:tbl>
              <a:tblPr/>
              <a:tblGrid>
                <a:gridCol w="203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Name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Example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Meaning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universal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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X.P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For all X, P is true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existential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  <a:sym typeface="Symbol" charset="2"/>
                        </a:rPr>
                        <a:t>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X.P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charset="0"/>
                          <a:ea typeface="Lucida Sans Unicode" charset="0"/>
                          <a:cs typeface="Lucida Sans Unicode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-128"/>
                        </a:rPr>
                        <a:t>There exists a value of X such that P is true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368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D5ECAAA3-8182-1F4C-8EE6-3C259BAE5635}" type="slidenum">
              <a:rPr lang="en-US" altLang="en-US" sz="1000">
                <a:latin typeface="Arial" charset="0"/>
              </a:rPr>
              <a:pPr/>
              <a:t>11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Clausal Form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4800600"/>
          </a:xfrm>
        </p:spPr>
        <p:txBody>
          <a:bodyPr/>
          <a:lstStyle/>
          <a:p>
            <a:pPr indent="-4763" eaLnBrk="1" hangingPunct="1"/>
            <a:r>
              <a:rPr lang="en-US" altLang="en-US" dirty="0">
                <a:ea typeface="ＭＳ Ｐゴシック" charset="-128"/>
              </a:rPr>
              <a:t>Too many ways to state the same thing</a:t>
            </a:r>
          </a:p>
          <a:p>
            <a:pPr indent="-4763" eaLnBrk="1" hangingPunct="1"/>
            <a:r>
              <a:rPr lang="en-US" altLang="en-US" dirty="0">
                <a:ea typeface="ＭＳ Ｐゴシック" charset="-128"/>
              </a:rPr>
              <a:t>Use a standard form for propositions</a:t>
            </a:r>
          </a:p>
          <a:p>
            <a:pPr indent="-4763" eaLnBrk="1" hangingPunct="1"/>
            <a:r>
              <a:rPr lang="en-US" altLang="en-US" i="1" dirty="0">
                <a:ea typeface="ＭＳ Ｐゴシック" charset="-128"/>
              </a:rPr>
              <a:t>Clausal form</a:t>
            </a:r>
            <a:r>
              <a:rPr lang="en-US" altLang="en-US" dirty="0">
                <a:ea typeface="ＭＳ Ｐゴシック" charset="-128"/>
              </a:rPr>
              <a:t>:</a:t>
            </a:r>
          </a:p>
          <a:p>
            <a:pPr lvl="1" eaLnBrk="1" hangingPunct="1"/>
            <a:r>
              <a:rPr lang="en-US" altLang="en-US" dirty="0"/>
              <a:t>B</a:t>
            </a:r>
            <a:r>
              <a:rPr lang="en-US" altLang="en-US" baseline="-25000" dirty="0"/>
              <a:t>1 </a:t>
            </a:r>
            <a:r>
              <a:rPr lang="en-US" altLang="en-US" dirty="0">
                <a:sym typeface="Symbol" charset="2"/>
              </a:rPr>
              <a:t></a:t>
            </a:r>
            <a:r>
              <a:rPr lang="en-US" altLang="en-US" dirty="0">
                <a:sym typeface="Math1" charset="0"/>
              </a:rPr>
              <a:t> B</a:t>
            </a:r>
            <a:r>
              <a:rPr lang="en-US" altLang="en-US" baseline="-25000" dirty="0">
                <a:sym typeface="Math1" charset="0"/>
              </a:rPr>
              <a:t>2 </a:t>
            </a:r>
            <a:r>
              <a:rPr lang="en-US" altLang="en-US" dirty="0">
                <a:sym typeface="Symbol" charset="2"/>
              </a:rPr>
              <a:t></a:t>
            </a:r>
            <a:r>
              <a:rPr lang="en-US" altLang="en-US" dirty="0">
                <a:sym typeface="Math1" charset="0"/>
              </a:rPr>
              <a:t> … </a:t>
            </a:r>
            <a:r>
              <a:rPr lang="en-US" altLang="en-US" dirty="0">
                <a:sym typeface="Symbol" charset="2"/>
              </a:rPr>
              <a:t></a:t>
            </a:r>
            <a:r>
              <a:rPr lang="en-US" altLang="en-US" dirty="0"/>
              <a:t> </a:t>
            </a:r>
            <a:r>
              <a:rPr lang="en-US" altLang="en-US" dirty="0" err="1"/>
              <a:t>B</a:t>
            </a:r>
            <a:r>
              <a:rPr lang="en-US" altLang="en-US" baseline="-25000" dirty="0" err="1"/>
              <a:t>n</a:t>
            </a:r>
            <a:r>
              <a:rPr lang="en-US" altLang="en-US" dirty="0"/>
              <a:t> </a:t>
            </a:r>
            <a:r>
              <a:rPr lang="en-US" altLang="en-US" dirty="0">
                <a:sym typeface="Symbol" charset="2"/>
              </a:rPr>
              <a:t></a:t>
            </a:r>
            <a:r>
              <a:rPr lang="en-US" altLang="en-US" dirty="0">
                <a:sym typeface="Math1" charset="0"/>
              </a:rPr>
              <a:t> A</a:t>
            </a:r>
            <a:r>
              <a:rPr lang="en-US" altLang="en-US" baseline="-25000" dirty="0">
                <a:sym typeface="Math1" charset="0"/>
              </a:rPr>
              <a:t>1 </a:t>
            </a:r>
            <a:r>
              <a:rPr lang="en-US" altLang="en-US" dirty="0">
                <a:sym typeface="Symbol" charset="2"/>
              </a:rPr>
              <a:t></a:t>
            </a:r>
            <a:r>
              <a:rPr lang="en-US" altLang="en-US" dirty="0">
                <a:sym typeface="Math1" charset="0"/>
              </a:rPr>
              <a:t> A</a:t>
            </a:r>
            <a:r>
              <a:rPr lang="en-US" altLang="en-US" baseline="-25000" dirty="0">
                <a:sym typeface="Math1" charset="0"/>
              </a:rPr>
              <a:t>2 </a:t>
            </a:r>
            <a:r>
              <a:rPr lang="en-US" altLang="en-US" dirty="0">
                <a:sym typeface="Symbol" charset="2"/>
              </a:rPr>
              <a:t></a:t>
            </a:r>
            <a:r>
              <a:rPr lang="en-US" altLang="en-US" dirty="0">
                <a:sym typeface="Math1" charset="0"/>
              </a:rPr>
              <a:t> … </a:t>
            </a:r>
            <a:r>
              <a:rPr lang="en-US" altLang="en-US" dirty="0">
                <a:sym typeface="Symbol" charset="2"/>
              </a:rPr>
              <a:t></a:t>
            </a:r>
            <a:r>
              <a:rPr lang="en-US" altLang="en-US" dirty="0">
                <a:sym typeface="Math1" charset="0"/>
              </a:rPr>
              <a:t> A</a:t>
            </a:r>
            <a:r>
              <a:rPr lang="en-US" altLang="en-US" baseline="-25000" dirty="0">
                <a:sym typeface="Math1" charset="0"/>
              </a:rPr>
              <a:t>m</a:t>
            </a:r>
          </a:p>
          <a:p>
            <a:pPr lvl="1" eaLnBrk="1" hangingPunct="1"/>
            <a:r>
              <a:rPr lang="en-US" altLang="en-US" dirty="0">
                <a:sym typeface="Math1" charset="0"/>
              </a:rPr>
              <a:t>means if all the As are true, then at least one B is true</a:t>
            </a:r>
          </a:p>
          <a:p>
            <a:pPr indent="-4763" eaLnBrk="1" hangingPunct="1"/>
            <a:r>
              <a:rPr lang="en-US" altLang="en-US" i="1" dirty="0">
                <a:ea typeface="ＭＳ Ｐゴシック" charset="-128"/>
              </a:rPr>
              <a:t>Antecedent</a:t>
            </a:r>
            <a:r>
              <a:rPr lang="en-US" altLang="en-US" dirty="0">
                <a:ea typeface="ＭＳ Ｐゴシック" charset="-128"/>
              </a:rPr>
              <a:t>: right side</a:t>
            </a:r>
          </a:p>
          <a:p>
            <a:pPr indent="-4763" eaLnBrk="1" hangingPunct="1"/>
            <a:r>
              <a:rPr lang="en-US" altLang="en-US" i="1" dirty="0">
                <a:ea typeface="ＭＳ Ｐゴシック" charset="-128"/>
              </a:rPr>
              <a:t>Consequent</a:t>
            </a:r>
            <a:r>
              <a:rPr lang="en-US" altLang="en-US" dirty="0">
                <a:ea typeface="ＭＳ Ｐゴシック" charset="-128"/>
              </a:rPr>
              <a:t>: left side</a:t>
            </a:r>
          </a:p>
          <a:p>
            <a:r>
              <a:rPr lang="en-US" dirty="0"/>
              <a:t>All predicate calculus propositions can be algorithmically converted to clausal form.</a:t>
            </a:r>
          </a:p>
          <a:p>
            <a:pPr indent="-4763" eaLnBrk="1" hangingPunct="1"/>
            <a:endParaRPr lang="en-US" altLang="en-US" dirty="0"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Clausal Forms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99" y="1600200"/>
            <a:ext cx="7427001" cy="91775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522" y="3489372"/>
            <a:ext cx="9413922" cy="9177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2767332"/>
            <a:ext cx="8229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Helvetica" charset="0"/>
              </a:rPr>
              <a:t>if bob likes fish and a trout is a fish, then bob likes trout.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1" y="4495800"/>
            <a:ext cx="82295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elvetica" charset="0"/>
                <a:ea typeface="Helvetica" charset="0"/>
                <a:cs typeface="Helvetica" charset="0"/>
              </a:rPr>
              <a:t> if al is bob’s father and violet is bob’s mother and </a:t>
            </a:r>
          </a:p>
          <a:p>
            <a:r>
              <a:rPr lang="en-US" dirty="0">
                <a:solidFill>
                  <a:srgbClr val="FF0000"/>
                </a:solidFill>
                <a:latin typeface="Helvetica" charset="0"/>
                <a:ea typeface="Helvetica" charset="0"/>
                <a:cs typeface="Helvetica" charset="0"/>
              </a:rPr>
              <a:t>louis is bob’s grandfather, then </a:t>
            </a:r>
          </a:p>
          <a:p>
            <a:r>
              <a:rPr lang="en-US" dirty="0">
                <a:solidFill>
                  <a:srgbClr val="FF0000"/>
                </a:solidFill>
                <a:latin typeface="Helvetica" charset="0"/>
                <a:ea typeface="Helvetica" charset="0"/>
                <a:cs typeface="Helvetica" charset="0"/>
              </a:rPr>
              <a:t>louis is either </a:t>
            </a:r>
            <a:r>
              <a:rPr lang="en-US" dirty="0" err="1">
                <a:solidFill>
                  <a:srgbClr val="FF0000"/>
                </a:solidFill>
                <a:latin typeface="Helvetica" charset="0"/>
                <a:ea typeface="Helvetica" charset="0"/>
                <a:cs typeface="Helvetica" charset="0"/>
              </a:rPr>
              <a:t>al’s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Helvetica" charset="0"/>
                <a:cs typeface="Helvetica" charset="0"/>
              </a:rPr>
              <a:t> father or violet’s father</a:t>
            </a:r>
          </a:p>
        </p:txBody>
      </p:sp>
    </p:spTree>
    <p:extLst>
      <p:ext uri="{BB962C8B-B14F-4D97-AF65-F5344CB8AC3E}">
        <p14:creationId xmlns:p14="http://schemas.microsoft.com/office/powerpoint/2010/main" val="198828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389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29DA96A2-7F9F-7E49-A744-11AC7D8B6EB8}" type="slidenum">
              <a:rPr lang="en-US" altLang="en-US" sz="1000">
                <a:latin typeface="Arial" charset="0"/>
              </a:rPr>
              <a:pPr/>
              <a:t>13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Predicate Calculus and Proving Theorems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153400" cy="46482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 use of propositions is to discover new theorems that can be inferred from known axioms and theorems</a:t>
            </a:r>
          </a:p>
          <a:p>
            <a:pPr eaLnBrk="1" hangingPunct="1"/>
            <a:r>
              <a:rPr lang="en-US" altLang="en-US" i="1" dirty="0">
                <a:solidFill>
                  <a:srgbClr val="FF0000"/>
                </a:solidFill>
                <a:ea typeface="ＭＳ Ｐゴシック" charset="-128"/>
              </a:rPr>
              <a:t>Resolution</a:t>
            </a:r>
            <a:r>
              <a:rPr lang="en-US" altLang="en-US" dirty="0">
                <a:ea typeface="ＭＳ Ｐゴシック" charset="-128"/>
              </a:rPr>
              <a:t>: an inference principle that allows inferred propositions to be computed from given propositions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Resolution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85800" y="1524000"/>
            <a:ext cx="6130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 there are two propositions of the form: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985665"/>
            <a:ext cx="1219200" cy="876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812663"/>
            <a:ext cx="3815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 P1 is identical to Q2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225025"/>
            <a:ext cx="1181100" cy="838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224" y="4279512"/>
            <a:ext cx="1409700" cy="584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964620"/>
            <a:ext cx="1875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 can write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17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Resolution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3" name="Rectangle 2"/>
          <p:cNvSpPr/>
          <p:nvPr/>
        </p:nvSpPr>
        <p:spPr>
          <a:xfrm>
            <a:off x="575733" y="4343400"/>
            <a:ext cx="80433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Helvetica" charset="0"/>
              </a:rPr>
              <a:t>The mechanics: 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>
                <a:effectLst/>
                <a:latin typeface="Helvetica" charset="0"/>
              </a:rPr>
              <a:t>Terms of the left sides are </a:t>
            </a:r>
            <a:r>
              <a:rPr lang="en-US" dirty="0" err="1">
                <a:effectLst/>
                <a:latin typeface="Helvetica" charset="0"/>
              </a:rPr>
              <a:t>OR’d</a:t>
            </a:r>
            <a:r>
              <a:rPr lang="en-US" dirty="0">
                <a:effectLst/>
                <a:latin typeface="Helvetica" charset="0"/>
              </a:rPr>
              <a:t> 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>
                <a:latin typeface="Helvetica" charset="0"/>
              </a:rPr>
              <a:t>Terms of the</a:t>
            </a:r>
            <a:r>
              <a:rPr lang="en-US" dirty="0">
                <a:effectLst/>
                <a:latin typeface="Helvetica" charset="0"/>
              </a:rPr>
              <a:t> right sides are</a:t>
            </a:r>
            <a:r>
              <a:rPr lang="en-US" dirty="0">
                <a:latin typeface="Helvetica" charset="0"/>
              </a:rPr>
              <a:t> </a:t>
            </a:r>
            <a:r>
              <a:rPr lang="en-US" dirty="0" err="1">
                <a:effectLst/>
                <a:latin typeface="Helvetica" charset="0"/>
              </a:rPr>
              <a:t>AND’d</a:t>
            </a:r>
            <a:r>
              <a:rPr lang="en-US" dirty="0">
                <a:effectLst/>
                <a:latin typeface="Helvetica" charset="0"/>
              </a:rPr>
              <a:t>. 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>
                <a:effectLst/>
                <a:latin typeface="Helvetica" charset="0"/>
              </a:rPr>
              <a:t>Any term that appears on both sides is removed.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371600"/>
            <a:ext cx="5600700" cy="889000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 bwMode="auto">
          <a:xfrm>
            <a:off x="4191000" y="2421845"/>
            <a:ext cx="495300" cy="58677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300" y="3162300"/>
            <a:ext cx="56007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3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Resolution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3" name="Rectangle 2"/>
          <p:cNvSpPr/>
          <p:nvPr/>
        </p:nvSpPr>
        <p:spPr>
          <a:xfrm>
            <a:off x="575733" y="4343400"/>
            <a:ext cx="80433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Helvetica" charset="0"/>
              </a:rPr>
              <a:t>The mechanics: 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>
                <a:effectLst/>
                <a:latin typeface="Helvetica" charset="0"/>
              </a:rPr>
              <a:t>Terms of the left sides are </a:t>
            </a:r>
            <a:r>
              <a:rPr lang="en-US" dirty="0" err="1">
                <a:effectLst/>
                <a:latin typeface="Helvetica" charset="0"/>
              </a:rPr>
              <a:t>OR’d</a:t>
            </a:r>
            <a:r>
              <a:rPr lang="en-US" dirty="0">
                <a:effectLst/>
                <a:latin typeface="Helvetica" charset="0"/>
              </a:rPr>
              <a:t> 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>
                <a:latin typeface="Helvetica" charset="0"/>
              </a:rPr>
              <a:t>Terms of the</a:t>
            </a:r>
            <a:r>
              <a:rPr lang="en-US" dirty="0">
                <a:effectLst/>
                <a:latin typeface="Helvetica" charset="0"/>
              </a:rPr>
              <a:t> right sides are</a:t>
            </a:r>
            <a:r>
              <a:rPr lang="en-US" dirty="0">
                <a:latin typeface="Helvetica" charset="0"/>
              </a:rPr>
              <a:t> </a:t>
            </a:r>
            <a:r>
              <a:rPr lang="en-US" dirty="0" err="1">
                <a:effectLst/>
                <a:latin typeface="Helvetica" charset="0"/>
              </a:rPr>
              <a:t>AND’d</a:t>
            </a:r>
            <a:r>
              <a:rPr lang="en-US" dirty="0">
                <a:effectLst/>
                <a:latin typeface="Helvetica" charset="0"/>
              </a:rPr>
              <a:t>. 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>
                <a:effectLst/>
                <a:latin typeface="Helvetica" charset="0"/>
              </a:rPr>
              <a:t>Any term that appears on both sides is removed.</a:t>
            </a:r>
          </a:p>
        </p:txBody>
      </p:sp>
      <p:sp>
        <p:nvSpPr>
          <p:cNvPr id="13" name="Down Arrow 12"/>
          <p:cNvSpPr/>
          <p:nvPr/>
        </p:nvSpPr>
        <p:spPr bwMode="auto">
          <a:xfrm>
            <a:off x="4191000" y="2421845"/>
            <a:ext cx="495300" cy="58677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6" y="1427540"/>
            <a:ext cx="8051800" cy="863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266" y="3183920"/>
            <a:ext cx="60198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78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F6FE27D9-D453-F74D-B5DA-1EA430B950FF}" type="slidenum">
              <a:rPr lang="en-US" altLang="en-US" sz="1000">
                <a:latin typeface="Arial" charset="0"/>
              </a:rPr>
              <a:pPr/>
              <a:t>17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Resolution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>
                <a:ea typeface="ＭＳ Ｐゴシック" charset="-128"/>
              </a:rPr>
              <a:t>Unification</a:t>
            </a:r>
            <a:r>
              <a:rPr lang="en-US" altLang="en-US">
                <a:ea typeface="ＭＳ Ｐゴシック" charset="-128"/>
              </a:rPr>
              <a:t>: finding values for variables in propositions that allows matching process to succeed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Instantiation</a:t>
            </a:r>
            <a:r>
              <a:rPr lang="en-US" altLang="en-US">
                <a:ea typeface="ＭＳ Ｐゴシック" charset="-128"/>
              </a:rPr>
              <a:t>: assigning temporary values to variables to allow unification to succeed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After instantiating a variable with a value,  if matching fails, may need to </a:t>
            </a:r>
            <a:r>
              <a:rPr lang="en-US" altLang="en-US" i="1">
                <a:ea typeface="ＭＳ Ｐゴシック" charset="-128"/>
              </a:rPr>
              <a:t>backtrack</a:t>
            </a:r>
            <a:r>
              <a:rPr lang="en-US" altLang="en-US">
                <a:ea typeface="ＭＳ Ｐゴシック" charset="-128"/>
              </a:rPr>
              <a:t> and instantiate with a different value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DF94B9A5-4D80-5449-A415-37AAAFFFC444}" type="slidenum">
              <a:rPr lang="en-US" altLang="en-US" sz="1000">
                <a:latin typeface="Arial" charset="0"/>
              </a:rPr>
              <a:pPr/>
              <a:t>18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Proof by Contradiction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>
                <a:ea typeface="ＭＳ Ｐゴシック" charset="-128"/>
              </a:rPr>
              <a:t>Hypotheses</a:t>
            </a:r>
            <a:r>
              <a:rPr lang="en-US" altLang="en-US">
                <a:ea typeface="ＭＳ Ｐゴシック" charset="-128"/>
              </a:rPr>
              <a:t>: a set of pertinent propositions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Goal</a:t>
            </a:r>
            <a:r>
              <a:rPr lang="en-US" altLang="en-US">
                <a:ea typeface="ＭＳ Ｐゴシック" charset="-128"/>
              </a:rPr>
              <a:t>: negation of theorem stated as a proposition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Theorem is proved by finding an inconsistency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450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FD031E07-6073-4B4C-94D3-D94B473A65AD}" type="slidenum">
              <a:rPr lang="en-US" altLang="en-US" sz="1000">
                <a:latin typeface="Arial" charset="0"/>
              </a:rPr>
              <a:pPr/>
              <a:t>19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Theorem Proving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Basis for logic programming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When propositions used for resolution, only restricted form can be used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Horn clause</a:t>
            </a:r>
            <a:r>
              <a:rPr lang="en-US" altLang="en-US">
                <a:ea typeface="ＭＳ Ｐゴシック" charset="-128"/>
              </a:rPr>
              <a:t> - can have only two forms</a:t>
            </a:r>
          </a:p>
          <a:p>
            <a:pPr lvl="1" eaLnBrk="1" hangingPunct="1"/>
            <a:r>
              <a:rPr lang="en-US" altLang="en-US" i="1"/>
              <a:t>Headed</a:t>
            </a:r>
            <a:r>
              <a:rPr lang="en-US" altLang="en-US"/>
              <a:t>: single atomic proposition on left side</a:t>
            </a:r>
          </a:p>
          <a:p>
            <a:pPr lvl="1" eaLnBrk="1" hangingPunct="1"/>
            <a:r>
              <a:rPr lang="en-US" altLang="en-US" i="1"/>
              <a:t>Headless</a:t>
            </a:r>
            <a:r>
              <a:rPr lang="en-US" altLang="en-US"/>
              <a:t>: empty left side (used to state facts)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Most propositions can be stated as Horn clauses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471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8437B7E1-52AE-124B-9028-AFA0B9C983EB}" type="slidenum">
              <a:rPr lang="en-US" altLang="en-US" sz="1000">
                <a:latin typeface="Arial" charset="0"/>
              </a:rPr>
              <a:pPr/>
              <a:t>20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Overview of Logic Programming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Declarative semantics</a:t>
            </a:r>
          </a:p>
          <a:p>
            <a:pPr lvl="1" eaLnBrk="1" hangingPunct="1"/>
            <a:r>
              <a:rPr lang="en-US" altLang="en-US" dirty="0"/>
              <a:t>There is a simple way to determine the meaning of each statement</a:t>
            </a:r>
          </a:p>
          <a:p>
            <a:pPr lvl="1" eaLnBrk="1" hangingPunct="1"/>
            <a:r>
              <a:rPr lang="en-US" altLang="en-US" dirty="0"/>
              <a:t>Simpler than the semantics of imperative languages</a:t>
            </a:r>
          </a:p>
          <a:p>
            <a:pPr eaLnBrk="1" hangingPunct="1"/>
            <a:r>
              <a:rPr lang="en-US" altLang="en-US" dirty="0">
                <a:ea typeface="ＭＳ Ｐゴシック" charset="-128"/>
              </a:rPr>
              <a:t>Programming is nonprocedural</a:t>
            </a:r>
          </a:p>
          <a:p>
            <a:pPr lvl="1" eaLnBrk="1" hangingPunct="1"/>
            <a:r>
              <a:rPr lang="en-US" altLang="en-US" dirty="0"/>
              <a:t>Programs do not state now a result is to be computed, but rather the form of the result</a:t>
            </a:r>
          </a:p>
          <a:p>
            <a:pPr lvl="1" eaLnBrk="1" hangingPunct="1"/>
            <a:r>
              <a:rPr lang="en-US" i="1" dirty="0"/>
              <a:t>Programming in both imperative and functional languages is procedural</a:t>
            </a:r>
            <a:r>
              <a:rPr lang="en-US" dirty="0"/>
              <a:t>, which means that the programmer instructs the computer on exactly how  the computation is to be done.</a:t>
            </a:r>
          </a:p>
          <a:p>
            <a:pPr lvl="1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491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53B0D046-E9AC-C746-A741-D70FB9B1BAAE}" type="slidenum">
              <a:rPr lang="en-US" altLang="en-US" sz="1000">
                <a:latin typeface="Arial" charset="0"/>
              </a:rPr>
              <a:pPr/>
              <a:t>21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Example: Sorting a List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Describe the characteristics of a sorted list, not the process of rearranging a list</a:t>
            </a:r>
          </a:p>
          <a:p>
            <a:pPr eaLnBrk="1" hangingPunct="1">
              <a:buFontTx/>
              <a:buNone/>
            </a:pPr>
            <a:endParaRPr lang="en-US" altLang="en-US" sz="2400">
              <a:ea typeface="ＭＳ Ｐゴシック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ea typeface="ＭＳ Ｐゴシック" charset="-128"/>
              </a:rPr>
              <a:t>	sort(old_list, new_list) </a:t>
            </a:r>
            <a:r>
              <a:rPr lang="en-US" altLang="en-US">
                <a:ea typeface="ＭＳ Ｐゴシック" charset="-128"/>
                <a:sym typeface="Symbol" charset="2"/>
              </a:rPr>
              <a:t></a:t>
            </a:r>
            <a:r>
              <a:rPr lang="en-US" altLang="en-US" sz="2400">
                <a:ea typeface="ＭＳ Ｐゴシック" charset="-128"/>
                <a:sym typeface="Math1" charset="0"/>
              </a:rPr>
              <a:t> permute (old_list, new_list) </a:t>
            </a:r>
            <a:r>
              <a:rPr lang="en-US" altLang="en-US">
                <a:ea typeface="ＭＳ Ｐゴシック" charset="-128"/>
                <a:sym typeface="Symbol" charset="2"/>
              </a:rPr>
              <a:t></a:t>
            </a:r>
            <a:r>
              <a:rPr lang="en-US" altLang="en-US" sz="2400">
                <a:ea typeface="ＭＳ Ｐゴシック" charset="-128"/>
                <a:sym typeface="Math1" charset="0"/>
              </a:rPr>
              <a:t> sorted (new_list)</a:t>
            </a:r>
          </a:p>
          <a:p>
            <a:pPr eaLnBrk="1" hangingPunct="1">
              <a:buFontTx/>
              <a:buNone/>
            </a:pPr>
            <a:endParaRPr lang="en-US" altLang="en-US" sz="2400">
              <a:ea typeface="ＭＳ Ｐゴシック" charset="-128"/>
              <a:sym typeface="Math1" charset="0"/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ea typeface="ＭＳ Ｐゴシック" charset="-128"/>
                <a:sym typeface="Math1" charset="0"/>
              </a:rPr>
              <a:t>	sorted (list) </a:t>
            </a:r>
            <a:r>
              <a:rPr lang="en-US" altLang="en-US">
                <a:ea typeface="ＭＳ Ｐゴシック" charset="-128"/>
                <a:sym typeface="Symbol" charset="2"/>
              </a:rPr>
              <a:t></a:t>
            </a:r>
            <a:r>
              <a:rPr lang="en-US" altLang="en-US" sz="2400">
                <a:ea typeface="ＭＳ Ｐゴシック" charset="-128"/>
                <a:sym typeface="Math1" charset="0"/>
              </a:rPr>
              <a:t> </a:t>
            </a:r>
            <a:r>
              <a:rPr lang="en-US" altLang="en-US" sz="2400">
                <a:ea typeface="ＭＳ Ｐゴシック" charset="-128"/>
                <a:sym typeface="Symbol" charset="2"/>
              </a:rPr>
              <a:t></a:t>
            </a:r>
            <a:r>
              <a:rPr lang="en-US" altLang="en-US" sz="2400" baseline="-25000">
                <a:ea typeface="ＭＳ Ｐゴシック" charset="-128"/>
                <a:sym typeface="Math1" charset="0"/>
              </a:rPr>
              <a:t>j</a:t>
            </a:r>
            <a:r>
              <a:rPr lang="en-US" altLang="en-US" sz="2400">
                <a:ea typeface="ＭＳ Ｐゴシック" charset="-128"/>
                <a:sym typeface="Math1" charset="0"/>
              </a:rPr>
              <a:t> such that 1</a:t>
            </a:r>
            <a:r>
              <a:rPr lang="en-US" altLang="en-US" sz="2400">
                <a:ea typeface="ＭＳ Ｐゴシック" charset="-128"/>
                <a:sym typeface="Symbol" charset="2"/>
              </a:rPr>
              <a:t></a:t>
            </a:r>
            <a:r>
              <a:rPr lang="en-US" altLang="en-US" sz="2400">
                <a:ea typeface="ＭＳ Ｐゴシック" charset="-128"/>
                <a:sym typeface="Math1" charset="0"/>
              </a:rPr>
              <a:t> j &lt; n, list(j) </a:t>
            </a:r>
            <a:r>
              <a:rPr lang="en-US" altLang="en-US" sz="2400">
                <a:ea typeface="ＭＳ Ｐゴシック" charset="-128"/>
                <a:sym typeface="Symbol" charset="2"/>
              </a:rPr>
              <a:t></a:t>
            </a:r>
            <a:r>
              <a:rPr lang="en-US" altLang="en-US" sz="2400">
                <a:ea typeface="ＭＳ Ｐゴシック" charset="-128"/>
                <a:sym typeface="Math1" charset="0"/>
              </a:rPr>
              <a:t> list (j+1)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512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F2C52DC1-9823-044F-846E-4999E6240AA2}" type="slidenum">
              <a:rPr lang="en-US" altLang="en-US" sz="1000">
                <a:latin typeface="Arial" charset="0"/>
              </a:rPr>
              <a:pPr/>
              <a:t>22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The Origins of Prolog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University of Aix-Marseille (Calmerauer &amp; Roussel)</a:t>
            </a:r>
          </a:p>
          <a:p>
            <a:pPr lvl="1" eaLnBrk="1" hangingPunct="1"/>
            <a:r>
              <a:rPr lang="en-US" altLang="en-US"/>
              <a:t>Natural language processing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University of Edinburgh (Kowalski)</a:t>
            </a:r>
          </a:p>
          <a:p>
            <a:pPr lvl="1" eaLnBrk="1" hangingPunct="1"/>
            <a:r>
              <a:rPr lang="en-US" altLang="en-US"/>
              <a:t>Automated theorem proving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53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B2960460-3DF2-644A-ABF3-0595C042E515}" type="slidenum">
              <a:rPr lang="en-US" altLang="en-US" sz="1000">
                <a:latin typeface="Arial" charset="0"/>
              </a:rPr>
              <a:pPr/>
              <a:t>23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Terms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book uses the Edinburgh syntax of Prolog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Term</a:t>
            </a:r>
            <a:r>
              <a:rPr lang="en-US" altLang="en-US">
                <a:ea typeface="ＭＳ Ｐゴシック" charset="-128"/>
              </a:rPr>
              <a:t>: a constant, variable, or structure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Constant</a:t>
            </a:r>
            <a:r>
              <a:rPr lang="en-US" altLang="en-US">
                <a:ea typeface="ＭＳ Ｐゴシック" charset="-128"/>
              </a:rPr>
              <a:t>: an atom or an integer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Atom</a:t>
            </a:r>
            <a:r>
              <a:rPr lang="en-US" altLang="en-US">
                <a:ea typeface="ＭＳ Ｐゴシック" charset="-128"/>
              </a:rPr>
              <a:t>: symbolic value of Prolog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Atom consists of either:</a:t>
            </a:r>
          </a:p>
          <a:p>
            <a:pPr lvl="1" eaLnBrk="1" hangingPunct="1"/>
            <a:r>
              <a:rPr lang="en-US" altLang="en-US"/>
              <a:t>a string of letters, digits, and underscores beginning with a lowercase letter</a:t>
            </a:r>
          </a:p>
          <a:p>
            <a:pPr lvl="1" eaLnBrk="1" hangingPunct="1"/>
            <a:r>
              <a:rPr lang="en-US" altLang="en-US"/>
              <a:t>a string of printable ASCII characters delimited by apostrophes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552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FA3900FE-DB81-0847-87B2-4D97505668F4}" type="slidenum">
              <a:rPr lang="en-US" altLang="en-US" sz="1000">
                <a:latin typeface="Arial" charset="0"/>
              </a:rPr>
              <a:pPr/>
              <a:t>24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Terms: Variables and Structures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>
                <a:ea typeface="ＭＳ Ｐゴシック" charset="-128"/>
              </a:rPr>
              <a:t>Variable</a:t>
            </a:r>
            <a:r>
              <a:rPr lang="en-US" altLang="en-US">
                <a:ea typeface="ＭＳ Ｐゴシック" charset="-128"/>
              </a:rPr>
              <a:t>: any string of letters, digits, and underscores beginning with an uppercase letter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Instantiation</a:t>
            </a:r>
            <a:r>
              <a:rPr lang="en-US" altLang="en-US">
                <a:ea typeface="ＭＳ Ｐゴシック" charset="-128"/>
              </a:rPr>
              <a:t>: binding of a variable to a value</a:t>
            </a:r>
          </a:p>
          <a:p>
            <a:pPr lvl="1" eaLnBrk="1" hangingPunct="1"/>
            <a:r>
              <a:rPr lang="en-US" altLang="en-US"/>
              <a:t>Lasts only as long as it takes to satisfy one complete goal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Structure</a:t>
            </a:r>
            <a:r>
              <a:rPr lang="en-US" altLang="en-US">
                <a:ea typeface="ＭＳ Ｐゴシック" charset="-128"/>
              </a:rPr>
              <a:t>: represents atomic proposition</a:t>
            </a:r>
          </a:p>
          <a:p>
            <a:pPr lvl="1" eaLnBrk="1" hangingPunct="1">
              <a:buFontTx/>
              <a:buNone/>
            </a:pPr>
            <a:r>
              <a:rPr lang="en-US" altLang="en-US"/>
              <a:t>functor</a:t>
            </a:r>
            <a:r>
              <a:rPr lang="en-US" altLang="en-US">
                <a:latin typeface="Courier New" charset="0"/>
              </a:rPr>
              <a:t>(</a:t>
            </a:r>
            <a:r>
              <a:rPr lang="en-US" altLang="en-US" i="1"/>
              <a:t>parameter list</a:t>
            </a:r>
            <a:r>
              <a:rPr lang="en-US" altLang="en-US">
                <a:latin typeface="Courier New" charset="0"/>
              </a:rPr>
              <a:t>)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57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84919111-4D7F-2E4C-8C9C-04F28AAFDBB4}" type="slidenum">
              <a:rPr lang="en-US" altLang="en-US" sz="1000">
                <a:latin typeface="Arial" charset="0"/>
              </a:rPr>
              <a:pPr/>
              <a:t>25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Fact Statements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Used for the hypotheses</a:t>
            </a:r>
          </a:p>
          <a:p>
            <a:pPr eaLnBrk="1" hangingPunct="1"/>
            <a:r>
              <a:rPr lang="en-US" altLang="en-US" dirty="0">
                <a:ea typeface="ＭＳ Ｐゴシック" charset="-128"/>
              </a:rPr>
              <a:t>Headless Horn clauses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female(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shelley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).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	male(bill).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	father(bill, 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jake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).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father(bill, 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shelley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).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	mother(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mary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, 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jake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).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	mother(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mary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, 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shelley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).</a:t>
            </a:r>
          </a:p>
          <a:p>
            <a:pPr eaLnBrk="1" hangingPunct="1">
              <a:buFontTx/>
              <a:buNone/>
            </a:pPr>
            <a:endParaRPr lang="en-US" altLang="en-US" sz="2000" b="1" dirty="0">
              <a:latin typeface="Courier New" charset="0"/>
              <a:ea typeface="ＭＳ Ｐゴシック" charset="-128"/>
            </a:endParaRPr>
          </a:p>
          <a:p>
            <a:pPr eaLnBrk="1" hangingPunct="1">
              <a:buFontTx/>
              <a:buNone/>
            </a:pPr>
            <a:endParaRPr lang="en-US" altLang="en-US" sz="2400" b="1" dirty="0">
              <a:latin typeface="Courier New" charset="0"/>
              <a:ea typeface="ＭＳ Ｐゴシック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5417403"/>
            <a:ext cx="81872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Helvetica" charset="0"/>
              </a:rPr>
              <a:t>Notice that every Prolog statement is terminated by a period.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C0631E58-012C-634B-959C-2E98A4170DA0}" type="slidenum">
              <a:rPr lang="en-US" altLang="en-US" sz="1000">
                <a:latin typeface="Arial" charset="0"/>
              </a:rPr>
              <a:pPr/>
              <a:t>26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Rule Statements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1498600"/>
            <a:ext cx="85344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Used for the hypotheses</a:t>
            </a:r>
          </a:p>
          <a:p>
            <a:pPr eaLnBrk="1" hangingPunct="1"/>
            <a:r>
              <a:rPr lang="en-US" altLang="en-US" dirty="0">
                <a:ea typeface="ＭＳ Ｐゴシック" charset="-128"/>
              </a:rPr>
              <a:t>Headed Horn clause</a:t>
            </a:r>
          </a:p>
          <a:p>
            <a:pPr eaLnBrk="1" hangingPunct="1"/>
            <a:r>
              <a:rPr lang="en-US" altLang="en-US" dirty="0">
                <a:ea typeface="ＭＳ Ｐゴシック" charset="-128"/>
              </a:rPr>
              <a:t>Right side: </a:t>
            </a:r>
            <a:r>
              <a:rPr lang="en-US" altLang="en-US" i="1" dirty="0">
                <a:ea typeface="ＭＳ Ｐゴシック" charset="-128"/>
              </a:rPr>
              <a:t>antecedent</a:t>
            </a:r>
            <a:r>
              <a:rPr lang="en-US" altLang="en-US" dirty="0">
                <a:ea typeface="ＭＳ Ｐゴシック" charset="-128"/>
              </a:rPr>
              <a:t> (</a:t>
            </a:r>
            <a:r>
              <a:rPr lang="en-US" altLang="en-US" b="1" i="1" dirty="0">
                <a:ea typeface="ＭＳ Ｐゴシック" charset="-128"/>
              </a:rPr>
              <a:t>if</a:t>
            </a:r>
            <a:r>
              <a:rPr lang="en-US" altLang="en-US" dirty="0">
                <a:ea typeface="ＭＳ Ｐゴシック" charset="-128"/>
              </a:rPr>
              <a:t> part)</a:t>
            </a:r>
          </a:p>
          <a:p>
            <a:pPr lvl="1" eaLnBrk="1" hangingPunct="1"/>
            <a:r>
              <a:rPr lang="en-US" altLang="en-US" dirty="0"/>
              <a:t>May be single term or conjunction</a:t>
            </a:r>
          </a:p>
          <a:p>
            <a:pPr eaLnBrk="1" hangingPunct="1"/>
            <a:r>
              <a:rPr lang="en-US" altLang="en-US" dirty="0">
                <a:ea typeface="ＭＳ Ｐゴシック" charset="-128"/>
              </a:rPr>
              <a:t>Left side: </a:t>
            </a:r>
            <a:r>
              <a:rPr lang="en-US" altLang="en-US" i="1" dirty="0">
                <a:ea typeface="ＭＳ Ｐゴシック" charset="-128"/>
              </a:rPr>
              <a:t>consequent</a:t>
            </a:r>
            <a:r>
              <a:rPr lang="en-US" altLang="en-US" dirty="0">
                <a:ea typeface="ＭＳ Ｐゴシック" charset="-128"/>
              </a:rPr>
              <a:t> (</a:t>
            </a:r>
            <a:r>
              <a:rPr lang="en-US" altLang="en-US" b="1" i="1" dirty="0">
                <a:ea typeface="ＭＳ Ｐゴシック" charset="-128"/>
              </a:rPr>
              <a:t>then</a:t>
            </a:r>
            <a:r>
              <a:rPr lang="en-US" altLang="en-US" dirty="0">
                <a:ea typeface="ＭＳ Ｐゴシック" charset="-128"/>
              </a:rPr>
              <a:t> part)</a:t>
            </a:r>
          </a:p>
          <a:p>
            <a:pPr lvl="1" eaLnBrk="1" hangingPunct="1"/>
            <a:r>
              <a:rPr lang="en-US" altLang="en-US" dirty="0"/>
              <a:t>Must be single term</a:t>
            </a:r>
          </a:p>
          <a:p>
            <a:pPr eaLnBrk="1" hangingPunct="1"/>
            <a:r>
              <a:rPr lang="en-US" altLang="en-US" i="1" dirty="0">
                <a:ea typeface="ＭＳ Ｐゴシック" charset="-128"/>
              </a:rPr>
              <a:t>Conjunction</a:t>
            </a:r>
            <a:r>
              <a:rPr lang="en-US" altLang="en-US" dirty="0">
                <a:ea typeface="ＭＳ Ｐゴシック" charset="-128"/>
              </a:rPr>
              <a:t>: multiple terms separated by logical AND operations (implied)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5839767"/>
            <a:ext cx="6083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female(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shelley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), child(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shelley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general form of the Prolog headed Horn clause statement is</a:t>
            </a:r>
          </a:p>
          <a:p>
            <a:pPr marL="0" indent="0">
              <a:buNone/>
            </a:pPr>
            <a:r>
              <a:rPr lang="en-US" dirty="0"/>
              <a:t>        consequence :- </a:t>
            </a:r>
            <a:r>
              <a:rPr lang="en-US" dirty="0" err="1"/>
              <a:t>antecedent_expression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838200" y="3657600"/>
            <a:ext cx="7239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elvetica" charset="0"/>
              </a:rPr>
              <a:t>“</a:t>
            </a:r>
            <a:r>
              <a:rPr lang="en-US" dirty="0">
                <a:solidFill>
                  <a:srgbClr val="FF0000"/>
                </a:solidFill>
                <a:effectLst/>
                <a:latin typeface="Helvetica" charset="0"/>
              </a:rPr>
              <a:t>consequence can be concluded if the </a:t>
            </a:r>
            <a:r>
              <a:rPr lang="en-US">
                <a:solidFill>
                  <a:srgbClr val="FF0000"/>
                </a:solidFill>
                <a:effectLst/>
                <a:latin typeface="Helvetica" charset="0"/>
              </a:rPr>
              <a:t>antecedent expression is </a:t>
            </a:r>
            <a:r>
              <a:rPr lang="en-US" dirty="0">
                <a:solidFill>
                  <a:srgbClr val="FF0000"/>
                </a:solidFill>
                <a:effectLst/>
                <a:latin typeface="Helvetica" charset="0"/>
              </a:rPr>
              <a:t>true or can be made to be true by some instantiation of its variables.”</a:t>
            </a:r>
          </a:p>
        </p:txBody>
      </p:sp>
    </p:spTree>
    <p:extLst>
      <p:ext uri="{BB962C8B-B14F-4D97-AF65-F5344CB8AC3E}">
        <p14:creationId xmlns:p14="http://schemas.microsoft.com/office/powerpoint/2010/main" val="214654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7BFC0C59-AA6C-A248-AF05-8999DC17988B}" type="slidenum">
              <a:rPr lang="en-US" altLang="en-US" sz="1000">
                <a:latin typeface="Arial" charset="0"/>
              </a:rPr>
              <a:pPr/>
              <a:t>28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Example Rules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153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altLang="en-US" sz="2400" dirty="0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ancestor(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mary,shelley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):- mother(</a:t>
            </a:r>
            <a:r>
              <a:rPr lang="en-US" altLang="en-US" sz="2000" dirty="0" err="1">
                <a:latin typeface="Courier New" charset="0"/>
                <a:ea typeface="ＭＳ Ｐゴシック" charset="-128"/>
              </a:rPr>
              <a:t>mary,shelley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).</a:t>
            </a:r>
            <a:endParaRPr lang="en-US" altLang="en-US" sz="2000" b="1" dirty="0">
              <a:latin typeface="Courier New" charset="0"/>
              <a:ea typeface="ＭＳ Ｐゴシック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endParaRPr lang="en-US" altLang="en-US" sz="3200" dirty="0">
              <a:ea typeface="ＭＳ Ｐゴシック" charset="-128"/>
            </a:endParaRPr>
          </a:p>
          <a:p>
            <a:pPr eaLnBrk="1" hangingPunct="1">
              <a:lnSpc>
                <a:spcPct val="90000"/>
              </a:lnSpc>
              <a:tabLst>
                <a:tab pos="3195638" algn="l"/>
              </a:tabLst>
            </a:pPr>
            <a:r>
              <a:rPr lang="en-US" altLang="en-US" dirty="0">
                <a:ea typeface="ＭＳ Ｐゴシック" charset="-128"/>
              </a:rPr>
              <a:t>Can use variables (</a:t>
            </a:r>
            <a:r>
              <a:rPr lang="en-US" altLang="en-US" i="1" dirty="0">
                <a:ea typeface="ＭＳ Ｐゴシック" charset="-128"/>
              </a:rPr>
              <a:t>universal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i="1" dirty="0">
                <a:ea typeface="ＭＳ Ｐゴシック" charset="-128"/>
              </a:rPr>
              <a:t>objects</a:t>
            </a:r>
            <a:r>
              <a:rPr lang="en-US" altLang="en-US" dirty="0">
                <a:ea typeface="ＭＳ Ｐゴシック" charset="-128"/>
              </a:rPr>
              <a:t>) to generalize meaning: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altLang="en-US" sz="2400" dirty="0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 dirty="0">
                <a:latin typeface="Courier New" charset="0"/>
                <a:ea typeface="ＭＳ Ｐゴシック" charset="-128"/>
              </a:rPr>
              <a:t>parent(X,Y):- mother(X,Y).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	parent(X,Y):- father(X,Y).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	grandparent(X,Z):- parent(X,Y), parent(Y,Z).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endParaRPr lang="en-US" altLang="en-US" sz="2000" dirty="0">
              <a:ea typeface="ＭＳ Ｐゴシック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altLang="en-US" sz="2000" dirty="0">
                <a:ea typeface="ＭＳ Ｐゴシック" charset="-128"/>
              </a:rPr>
              <a:t>    </a:t>
            </a:r>
            <a:r>
              <a:rPr lang="en-US" altLang="en-US" sz="2400" dirty="0">
                <a:ea typeface="ＭＳ Ｐゴシック" charset="-128"/>
              </a:rPr>
              <a:t>Here X, Y, Z are variables (they start with uppercase letters)</a:t>
            </a:r>
            <a:endParaRPr lang="en-US" altLang="en-US" sz="2000" dirty="0">
              <a:ea typeface="ＭＳ Ｐゴシック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	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CF837803-933D-2D40-A1A9-7A30191A08B4}" type="slidenum">
              <a:rPr lang="en-US" altLang="en-US" sz="1000">
                <a:latin typeface="Arial" charset="0"/>
              </a:rPr>
              <a:pPr/>
              <a:t>29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Goal Statements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For theorem proving, theorem is in form of proposition that we want system to prove or disprove – </a:t>
            </a:r>
            <a:r>
              <a:rPr lang="en-US" altLang="en-US" i="1">
                <a:ea typeface="ＭＳ Ｐゴシック" charset="-128"/>
              </a:rPr>
              <a:t>goal statement</a:t>
            </a:r>
            <a:endParaRPr lang="en-US" altLang="en-US">
              <a:ea typeface="ＭＳ Ｐゴシック" charset="-128"/>
            </a:endParaRPr>
          </a:p>
          <a:p>
            <a:pPr eaLnBrk="1" hangingPunct="1"/>
            <a:r>
              <a:rPr lang="en-US" altLang="en-US">
                <a:ea typeface="ＭＳ Ｐゴシック" charset="-128"/>
              </a:rPr>
              <a:t>Same format as headless Horn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man(fred)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Conjunctive propositions and propositions with variables also legal goals</a:t>
            </a: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father(X, mike)</a:t>
            </a:r>
            <a:endParaRPr lang="en-US" altLang="en-US" sz="2000" b="1">
              <a:latin typeface="Courier New" charset="0"/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3791E5FC-5598-DC4C-AFA3-C30EC922C46E}" type="slidenum">
              <a:rPr lang="en-US" altLang="en-US" sz="1000">
                <a:latin typeface="Arial" charset="0"/>
              </a:rPr>
              <a:pPr/>
              <a:t>30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Inferencing Process of Prolog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ea typeface="ＭＳ Ｐゴシック" charset="-128"/>
              </a:rPr>
              <a:t>Queries are called goals</a:t>
            </a: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If a goal is a compound proposition, each of the facts is a subgoal</a:t>
            </a: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To prove a goal is true, must find a chain of inference rules and/or facts.  For goal Q:</a:t>
            </a:r>
          </a:p>
          <a:p>
            <a:pPr lvl="1" eaLnBrk="1" hangingPunct="1">
              <a:buFontTx/>
              <a:buNone/>
            </a:pPr>
            <a:r>
              <a:rPr lang="en-US" altLang="en-US" sz="2000">
                <a:latin typeface="Courier New" charset="0"/>
              </a:rPr>
              <a:t>P</a:t>
            </a:r>
            <a:r>
              <a:rPr lang="en-US" altLang="en-US" sz="2000" baseline="-25000">
                <a:latin typeface="Courier New" charset="0"/>
              </a:rPr>
              <a:t>2</a:t>
            </a:r>
            <a:r>
              <a:rPr lang="en-US" altLang="en-US" sz="2000">
                <a:latin typeface="Courier New" charset="0"/>
              </a:rPr>
              <a:t> :- P</a:t>
            </a:r>
            <a:r>
              <a:rPr lang="en-US" altLang="en-US" sz="2000" baseline="-25000">
                <a:latin typeface="Courier New" charset="0"/>
              </a:rPr>
              <a:t>1</a:t>
            </a:r>
          </a:p>
          <a:p>
            <a:pPr lvl="1" eaLnBrk="1" hangingPunct="1">
              <a:buFontTx/>
              <a:buNone/>
            </a:pPr>
            <a:r>
              <a:rPr lang="en-US" altLang="en-US" sz="2000">
                <a:latin typeface="Courier New" charset="0"/>
              </a:rPr>
              <a:t>P</a:t>
            </a:r>
            <a:r>
              <a:rPr lang="en-US" altLang="en-US" sz="2000" baseline="-25000">
                <a:latin typeface="Courier New" charset="0"/>
              </a:rPr>
              <a:t>3</a:t>
            </a:r>
            <a:r>
              <a:rPr lang="en-US" altLang="en-US" sz="2000">
                <a:latin typeface="Courier New" charset="0"/>
              </a:rPr>
              <a:t> :- P</a:t>
            </a:r>
            <a:r>
              <a:rPr lang="en-US" altLang="en-US" sz="2000" baseline="-25000">
                <a:latin typeface="Courier New" charset="0"/>
              </a:rPr>
              <a:t>2</a:t>
            </a:r>
          </a:p>
          <a:p>
            <a:pPr lvl="1" eaLnBrk="1" hangingPunct="1">
              <a:buFontTx/>
              <a:buNone/>
            </a:pPr>
            <a:r>
              <a:rPr lang="en-US" altLang="en-US" sz="2000"/>
              <a:t>…</a:t>
            </a:r>
            <a:endParaRPr lang="en-US" altLang="en-US" sz="2000">
              <a:latin typeface="Courier New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000">
                <a:latin typeface="Courier New" charset="0"/>
              </a:rPr>
              <a:t>Q :- P</a:t>
            </a:r>
            <a:r>
              <a:rPr lang="en-US" altLang="en-US" sz="2000" baseline="-25000">
                <a:latin typeface="Courier New" charset="0"/>
              </a:rPr>
              <a:t>n</a:t>
            </a:r>
            <a:endParaRPr lang="en-US" altLang="en-US" sz="2000" b="1" baseline="-25000">
              <a:latin typeface="Courier New" charset="0"/>
            </a:endParaRP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Process of proving a subgoal called matching, satisfying, or resolution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652A8423-0B57-854B-BC0A-CAAA690C6D9C}" type="slidenum">
              <a:rPr lang="en-US" altLang="en-US" sz="1000">
                <a:latin typeface="Arial" charset="0"/>
              </a:rPr>
              <a:pPr/>
              <a:t>31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Approaches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i="1">
                <a:ea typeface="ＭＳ Ｐゴシック" charset="-128"/>
              </a:rPr>
              <a:t>Matching</a:t>
            </a:r>
            <a:r>
              <a:rPr lang="en-US" altLang="en-US" sz="2400">
                <a:ea typeface="ＭＳ Ｐゴシック" charset="-128"/>
              </a:rPr>
              <a:t> is the process of proving a proposition</a:t>
            </a: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Proving a subgoal is called </a:t>
            </a:r>
            <a:r>
              <a:rPr lang="en-US" altLang="en-US" sz="2400" i="1">
                <a:ea typeface="ＭＳ Ｐゴシック" charset="-128"/>
              </a:rPr>
              <a:t>satisfying</a:t>
            </a:r>
            <a:r>
              <a:rPr lang="en-US" altLang="en-US" sz="2400">
                <a:ea typeface="ＭＳ Ｐゴシック" charset="-128"/>
              </a:rPr>
              <a:t> the subgoal</a:t>
            </a:r>
          </a:p>
          <a:p>
            <a:pPr eaLnBrk="1" hangingPunct="1"/>
            <a:r>
              <a:rPr lang="en-US" altLang="en-US" sz="2400" i="1">
                <a:ea typeface="ＭＳ Ｐゴシック" charset="-128"/>
              </a:rPr>
              <a:t>Bottom-up resolution, forward chaining</a:t>
            </a:r>
          </a:p>
          <a:p>
            <a:pPr lvl="1" eaLnBrk="1" hangingPunct="1"/>
            <a:r>
              <a:rPr lang="en-US" altLang="en-US" sz="2000"/>
              <a:t>Begin with facts and rules of database and attempt to find sequence that leads to goal</a:t>
            </a:r>
          </a:p>
          <a:p>
            <a:pPr lvl="1" eaLnBrk="1" hangingPunct="1"/>
            <a:r>
              <a:rPr lang="en-US" altLang="en-US" sz="2000"/>
              <a:t>Works well with a large set of possibly correct answers</a:t>
            </a:r>
          </a:p>
          <a:p>
            <a:pPr eaLnBrk="1" hangingPunct="1"/>
            <a:r>
              <a:rPr lang="en-US" altLang="en-US" sz="2400" i="1">
                <a:ea typeface="ＭＳ Ｐゴシック" charset="-128"/>
              </a:rPr>
              <a:t>Top-down resolution, backward chaining</a:t>
            </a:r>
            <a:endParaRPr lang="en-US" altLang="en-US" sz="2400">
              <a:ea typeface="ＭＳ Ｐゴシック" charset="-128"/>
            </a:endParaRPr>
          </a:p>
          <a:p>
            <a:pPr lvl="1" eaLnBrk="1" hangingPunct="1"/>
            <a:r>
              <a:rPr lang="en-US" altLang="en-US" sz="2000"/>
              <a:t>Begin with goal and attempt to find sequence that leads to set of facts in database</a:t>
            </a:r>
          </a:p>
          <a:p>
            <a:pPr lvl="1" eaLnBrk="1" hangingPunct="1"/>
            <a:r>
              <a:rPr lang="en-US" altLang="en-US" sz="2000"/>
              <a:t>Works well with a small set of possibly correct answers</a:t>
            </a: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Prolog implementations use backward chaining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C9D1E19F-BC40-FA49-8460-3EA31655392E}" type="slidenum">
              <a:rPr lang="en-US" altLang="en-US" sz="1000">
                <a:latin typeface="Arial" charset="0"/>
              </a:rPr>
              <a:pPr/>
              <a:t>32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Subgoal Strategies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When goal has more than one subgoal, can use either</a:t>
            </a:r>
          </a:p>
          <a:p>
            <a:pPr lvl="1" eaLnBrk="1" hangingPunct="1"/>
            <a:r>
              <a:rPr lang="en-US" altLang="en-US"/>
              <a:t>Depth-first search:  find a complete proof for the first subgoal before working on others</a:t>
            </a:r>
          </a:p>
          <a:p>
            <a:pPr lvl="1" eaLnBrk="1" hangingPunct="1"/>
            <a:r>
              <a:rPr lang="en-US" altLang="en-US"/>
              <a:t>Breadth-first search: work on all subgoals in parallel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Prolog uses depth-first search</a:t>
            </a:r>
          </a:p>
          <a:p>
            <a:pPr lvl="1" eaLnBrk="1" hangingPunct="1"/>
            <a:r>
              <a:rPr lang="en-US" altLang="en-US"/>
              <a:t>Can be done with fewer computer resources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C69DD59B-572C-7B49-A8A2-1589D27269FC}" type="slidenum">
              <a:rPr lang="en-US" altLang="en-US" sz="1000">
                <a:latin typeface="Arial" charset="0"/>
              </a:rPr>
              <a:pPr/>
              <a:t>33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Backtracking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With a goal with multiple subgoals, if fail to show truth of one of subgoals, reconsider previous subgoal to find an alternative solution: </a:t>
            </a:r>
            <a:r>
              <a:rPr lang="en-US" altLang="en-US" i="1">
                <a:ea typeface="ＭＳ Ｐゴシック" charset="-128"/>
              </a:rPr>
              <a:t>backtracking</a:t>
            </a:r>
            <a:endParaRPr lang="en-US" altLang="en-US">
              <a:ea typeface="ＭＳ Ｐゴシック" charset="-128"/>
            </a:endParaRPr>
          </a:p>
          <a:p>
            <a:pPr eaLnBrk="1" hangingPunct="1"/>
            <a:r>
              <a:rPr lang="en-US" altLang="en-US">
                <a:ea typeface="ＭＳ Ｐゴシック" charset="-128"/>
              </a:rPr>
              <a:t>Begin search where previous search left off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Can take lots of time and space because may find all possible proofs to every subgoal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737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6D90DBD3-6B60-4A4E-B6EB-97B5721164DE}" type="slidenum">
              <a:rPr lang="en-US" altLang="en-US" sz="1000">
                <a:latin typeface="Arial" charset="0"/>
              </a:rPr>
              <a:pPr/>
              <a:t>34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Simple Arithmetic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Prolog supports integer variables and integer arithmetic</a:t>
            </a:r>
          </a:p>
          <a:p>
            <a:pPr eaLnBrk="1" hangingPunct="1"/>
            <a:r>
              <a:rPr lang="en-US" altLang="en-US" sz="2000" b="1">
                <a:latin typeface="Courier New" charset="0"/>
                <a:ea typeface="ＭＳ Ｐゴシック" charset="-128"/>
              </a:rPr>
              <a:t>is</a:t>
            </a:r>
            <a:r>
              <a:rPr lang="en-US" altLang="en-US">
                <a:ea typeface="ＭＳ Ｐゴシック" charset="-128"/>
              </a:rPr>
              <a:t> operator: takes an arithmetic expression as right operand and variable as left operand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A </a:t>
            </a:r>
            <a:r>
              <a:rPr lang="en-US" altLang="en-US" sz="2000" b="1">
                <a:latin typeface="Courier New" charset="0"/>
                <a:ea typeface="ＭＳ Ｐゴシック" charset="-128"/>
              </a:rPr>
              <a:t>is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 B / 17 + C</a:t>
            </a:r>
            <a:endParaRPr lang="en-US" altLang="en-US" sz="2000">
              <a:ea typeface="ＭＳ Ｐゴシック" charset="-128"/>
            </a:endParaRPr>
          </a:p>
          <a:p>
            <a:pPr eaLnBrk="1" hangingPunct="1"/>
            <a:r>
              <a:rPr lang="en-US" altLang="en-US">
                <a:ea typeface="ＭＳ Ｐゴシック" charset="-128"/>
              </a:rPr>
              <a:t>Not the same as an assignment statement!</a:t>
            </a:r>
          </a:p>
          <a:p>
            <a:pPr lvl="1" eaLnBrk="1" hangingPunct="1"/>
            <a:r>
              <a:rPr lang="en-US" altLang="en-US"/>
              <a:t>The following is illegal (Left side variable cannot be previously instantiated)</a:t>
            </a: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charset="-128"/>
              </a:rPr>
              <a:t>          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Sum </a:t>
            </a:r>
            <a:r>
              <a:rPr lang="en-US" altLang="en-US" sz="2000" b="1">
                <a:latin typeface="Courier New" charset="0"/>
                <a:ea typeface="ＭＳ Ｐゴシック" charset="-128"/>
              </a:rPr>
              <a:t>is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 Sum + Number.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75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5472ABCE-7DB2-C240-9C14-1D895BEEA650}" type="slidenum">
              <a:rPr lang="en-US" altLang="en-US" sz="1000">
                <a:latin typeface="Arial" charset="0"/>
              </a:rPr>
              <a:pPr/>
              <a:t>35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Example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/>
          <a:lstStyle/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speed(ford,100).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speed(chevy,105).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speed(dodge,95).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speed(volvo,80).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time(ford,20).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time(chevy,21).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time(dodge,24).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time(volvo,24).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distance(X,Y) :- 	speed(X,Speed),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					time(X,Time), 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000">
                <a:latin typeface="Courier New" charset="0"/>
                <a:ea typeface="ＭＳ Ｐゴシック" charset="-128"/>
              </a:rPr>
              <a:t>					Y </a:t>
            </a:r>
            <a:r>
              <a:rPr lang="en-US" altLang="en-US" sz="2000" b="1">
                <a:latin typeface="Courier New" charset="0"/>
                <a:ea typeface="ＭＳ Ｐゴシック" charset="-128"/>
              </a:rPr>
              <a:t>is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 Speed * Time.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endParaRPr lang="en-US" altLang="en-US" sz="2000">
              <a:latin typeface="Courier New" charset="0"/>
              <a:ea typeface="ＭＳ Ｐゴシック" charset="-128"/>
            </a:endParaRP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altLang="en-US" sz="2400">
                <a:ea typeface="ＭＳ Ｐゴシック" charset="-128"/>
              </a:rPr>
              <a:t>A query: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 distance(chevy, Chevy_Distance).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77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5B55A75E-18FC-2C45-85AA-7C2512A507CC}" type="slidenum">
              <a:rPr lang="en-US" altLang="en-US" sz="1000">
                <a:latin typeface="Arial" charset="0"/>
              </a:rPr>
              <a:pPr/>
              <a:t>36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Trace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Built-in structure that displays instantiations at each step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Tracing model</a:t>
            </a:r>
            <a:r>
              <a:rPr lang="en-US" altLang="en-US">
                <a:ea typeface="ＭＳ Ｐゴシック" charset="-128"/>
              </a:rPr>
              <a:t> of execution - four events:</a:t>
            </a:r>
          </a:p>
          <a:p>
            <a:pPr lvl="1" eaLnBrk="1" hangingPunct="1"/>
            <a:r>
              <a:rPr lang="en-US" altLang="en-US" i="1"/>
              <a:t>Call</a:t>
            </a:r>
            <a:r>
              <a:rPr lang="en-US" altLang="en-US"/>
              <a:t> (beginning of attempt to satisfy goal)</a:t>
            </a:r>
          </a:p>
          <a:p>
            <a:pPr lvl="1" eaLnBrk="1" hangingPunct="1"/>
            <a:r>
              <a:rPr lang="en-US" altLang="en-US" i="1"/>
              <a:t>Exit</a:t>
            </a:r>
            <a:r>
              <a:rPr lang="en-US" altLang="en-US"/>
              <a:t> (when a goal has been satisfied)</a:t>
            </a:r>
          </a:p>
          <a:p>
            <a:pPr lvl="1" eaLnBrk="1" hangingPunct="1"/>
            <a:r>
              <a:rPr lang="en-US" altLang="en-US" i="1"/>
              <a:t>Redo</a:t>
            </a:r>
            <a:r>
              <a:rPr lang="en-US" altLang="en-US"/>
              <a:t> (when backtrack occurs)</a:t>
            </a:r>
          </a:p>
          <a:p>
            <a:pPr lvl="1" eaLnBrk="1" hangingPunct="1"/>
            <a:r>
              <a:rPr lang="en-US" altLang="en-US" i="1"/>
              <a:t>Fail</a:t>
            </a:r>
            <a:r>
              <a:rPr lang="en-US" altLang="en-US"/>
              <a:t> (when goal fails)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798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2147D173-1B7C-0345-81E5-022C42EDA99A}" type="slidenum">
              <a:rPr lang="en-US" altLang="en-US" sz="1000">
                <a:latin typeface="Arial" charset="0"/>
              </a:rPr>
              <a:pPr/>
              <a:t>37</a:t>
            </a:fld>
            <a:endParaRPr lang="en-US" altLang="en-US" sz="1000">
              <a:latin typeface="Arial" charset="0"/>
            </a:endParaRPr>
          </a:p>
        </p:txBody>
      </p:sp>
      <p:pic>
        <p:nvPicPr>
          <p:cNvPr id="79875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038" y="1295400"/>
            <a:ext cx="3636962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Example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51054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>
                <a:latin typeface="Courier New" charset="0"/>
                <a:ea typeface="ＭＳ Ｐゴシック" charset="-128"/>
              </a:rPr>
              <a:t>likes(jake,chocolate).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Courier New" charset="0"/>
                <a:ea typeface="ＭＳ Ｐゴシック" charset="-128"/>
              </a:rPr>
              <a:t>likes(jake, apricots).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Courier New" charset="0"/>
                <a:ea typeface="ＭＳ Ｐゴシック" charset="-128"/>
              </a:rPr>
              <a:t>likes(darcie, licorice).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Courier New" charset="0"/>
                <a:ea typeface="ＭＳ Ｐゴシック" charset="-128"/>
              </a:rPr>
              <a:t>likes(darcie, apricots).</a:t>
            </a:r>
          </a:p>
          <a:p>
            <a:pPr eaLnBrk="1" hangingPunct="1">
              <a:buFontTx/>
              <a:buNone/>
            </a:pPr>
            <a:endParaRPr lang="en-US" altLang="en-US" sz="1600">
              <a:latin typeface="Courier New" charset="0"/>
              <a:ea typeface="ＭＳ Ｐゴシック" charset="-128"/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latin typeface="Courier New" charset="0"/>
                <a:ea typeface="ＭＳ Ｐゴシック" charset="-128"/>
              </a:rPr>
              <a:t>trace.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latin typeface="Courier New" charset="0"/>
                <a:ea typeface="ＭＳ Ｐゴシック" charset="-128"/>
              </a:rPr>
              <a:t>likes(jake, X), likes(darcie, X).</a:t>
            </a:r>
          </a:p>
          <a:p>
            <a:pPr eaLnBrk="1" hangingPunct="1">
              <a:buFontTx/>
              <a:buAutoNum type="arabicParenBoth"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 1 Call: likes(jake, _0)?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(1) 1 Exit: likes(jake, chocolate)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(2) 1 Call: likes(darcie, chocolate)?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(2) 1 Fail: likes(darcie, chocolate)</a:t>
            </a:r>
          </a:p>
          <a:p>
            <a:pPr eaLnBrk="1" hangingPunct="1">
              <a:buFontTx/>
              <a:buAutoNum type="arabicParenBoth"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 1 Redo: likes(jake, _0)?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(1) 1 Exit: likes(jake, apricots)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(3) 1 Call: likes(darcie, apricots)?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(3) 1 Exit: likes(darcie, apricots)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latin typeface="Courier New" charset="0"/>
                <a:ea typeface="ＭＳ Ｐゴシック" charset="-128"/>
              </a:rPr>
              <a:t>X = apricots</a:t>
            </a:r>
          </a:p>
          <a:p>
            <a:pPr eaLnBrk="1" hangingPunct="1">
              <a:buFontTx/>
              <a:buNone/>
            </a:pPr>
            <a:endParaRPr lang="en-US" altLang="en-US" sz="1400">
              <a:latin typeface="Courier New" charset="0"/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2166D6-1F6F-D1A8-B005-013198CCF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2B80E-0194-258D-F98D-563E8614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2" y="0"/>
            <a:ext cx="8996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5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91C7DA-C334-C28F-543F-5B20B4F60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E9152-6C88-A0EC-3B5D-A1222CF61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6" y="0"/>
            <a:ext cx="8975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7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FA8D2-D206-C578-791B-006B021888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9414D-E53C-E20F-2915-8591ADF9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" y="0"/>
            <a:ext cx="9120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53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8C5DF-9E27-40F0-03E8-C6FB711119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B8DBB-FC42-D1D3-E5DE-9C7E5FD36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4" y="0"/>
            <a:ext cx="8833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49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93D08A-4FAE-09D5-6C63-CAE3F9BF5A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1286C6-3717-113B-778D-5A9B5521C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" y="0"/>
            <a:ext cx="9105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12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770127-9A86-C958-1A91-73A9EACBA4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F7811-882E-55AC-4B34-CC8C1C4B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1" y="0"/>
            <a:ext cx="8768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11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A04219-E7C4-105A-CB5A-1EDB13F0F8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02616-FBC6-71A2-6A5F-C3A70C47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0"/>
            <a:ext cx="8658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03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31E6F-9090-C7BD-1D6B-7761F282C7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4DBB6-F737-4EA4-339E-8396B7DE6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1" y="0"/>
            <a:ext cx="8901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83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E8F97A-8271-A2CF-BB31-40BDAA6861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352E9-E897-47E8-6B20-78C7BF60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8"/>
            <a:ext cx="9144000" cy="683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9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D83752-1863-31A9-B277-B0349B452E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EDC6-2E86-A3F1-884E-4EE89D6E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4" y="0"/>
            <a:ext cx="9010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251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F7A0E3-09FD-80EC-240D-D34CCBE47C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22CDB-8028-EEF1-6693-E7624ADDA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6" y="0"/>
            <a:ext cx="8930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68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842C40-6D12-759E-175E-1B7BC7A9C1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662D3-2D65-2385-D5BC-0C89840EA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92" y="0"/>
            <a:ext cx="8884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739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2861-8238-470A-2C4C-E1B3BF3000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ACAA2-A3FA-1177-E848-D3233067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" y="0"/>
            <a:ext cx="899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406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8F87FF-6D7B-4340-0EBC-C4E2414CC9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FF02D-9885-2FE2-2034-DAC42BD9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8" y="0"/>
            <a:ext cx="8932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693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0F1B2E-AA72-9F71-4F86-32185C073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693EB-6AC8-1BC3-61EC-329B2E9DD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5" y="0"/>
            <a:ext cx="8866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353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E05AA2-A0EB-4B41-4138-827DA77EF2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11DA5-746A-D2A1-91EC-2B8FC2494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3" y="0"/>
            <a:ext cx="8830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1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7DEF05-36EE-4674-6BA2-B0ACBB9D8E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E26DD-AC23-2582-367A-E044ABDDB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3" y="0"/>
            <a:ext cx="8823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065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E610A3-FB88-22CE-BB78-6C52F8FB9A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4C380-B196-D776-6F91-08D406FB1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8" y="0"/>
            <a:ext cx="8797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678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1153C6-7AAA-548D-41F8-3B09349AD8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88E55-9563-57A4-8761-DCC940207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81" y="1400577"/>
            <a:ext cx="6439437" cy="40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702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B7C369-B672-1275-FEB1-750C2D7615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42477-DCB3-8DEE-437B-8C9436EC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7" y="0"/>
            <a:ext cx="8847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46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E66527-1187-2B33-CFD8-A4BAE4CE99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C6674-995F-B4E9-BF55-3C3E36B2A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9" y="0"/>
            <a:ext cx="8882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11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4FD1BF-CDEB-EE91-0EFE-54FC54A01A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24149-E659-6FA4-9A11-B6CEAE25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2" y="0"/>
            <a:ext cx="8944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94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5207FD-F89B-5B8F-D3A6-01A70F1B3F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B9015-8F9D-C86E-5AFB-9BF47AC7B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5" y="0"/>
            <a:ext cx="8866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704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DB5AA2-BD7D-82AF-6AD1-2BFAD07584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A0C93-AFC1-A918-D7FA-F2E95244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99" y="0"/>
            <a:ext cx="8858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048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03EF9D-FE39-CE0E-9B1A-0AF58D603B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FCB54-A86A-513D-DDF4-9F2887068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2" y="0"/>
            <a:ext cx="8982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349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819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A293240C-A57D-FB4E-89DD-6CA325770D93}" type="slidenum">
              <a:rPr lang="en-US" altLang="en-US" sz="1000">
                <a:latin typeface="Arial" charset="0"/>
              </a:rPr>
              <a:pPr/>
              <a:t>63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List Structures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534400" cy="44958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Other basic data structure (besides atomic propositions we have already seen): list</a:t>
            </a:r>
          </a:p>
          <a:p>
            <a:pPr eaLnBrk="1" hangingPunct="1"/>
            <a:r>
              <a:rPr lang="en-US" altLang="en-US" i="1">
                <a:ea typeface="ＭＳ Ｐゴシック" charset="-128"/>
              </a:rPr>
              <a:t>List</a:t>
            </a:r>
            <a:r>
              <a:rPr lang="en-US" altLang="en-US">
                <a:ea typeface="ＭＳ Ｐゴシック" charset="-128"/>
              </a:rPr>
              <a:t> is a sequence of any number of elements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Elements can be atoms, atomic propositions, or other terms (including other lists)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[apple, prune, grape, kumquat]</a:t>
            </a:r>
          </a:p>
          <a:p>
            <a:pPr eaLnBrk="1" hangingPunct="1">
              <a:buFontTx/>
              <a:buNone/>
            </a:pPr>
            <a:r>
              <a:rPr lang="en-US" altLang="en-US" sz="2400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[]</a:t>
            </a:r>
            <a:r>
              <a:rPr lang="en-US" altLang="en-US" sz="2400" b="1">
                <a:latin typeface="Courier New" charset="0"/>
                <a:ea typeface="ＭＳ Ｐゴシック" charset="-128"/>
              </a:rPr>
              <a:t> 		</a:t>
            </a:r>
            <a:r>
              <a:rPr lang="en-US" altLang="en-US" sz="2400" b="1" i="1">
                <a:latin typeface="Courier New" charset="0"/>
                <a:ea typeface="ＭＳ Ｐゴシック" charset="-128"/>
              </a:rPr>
              <a:t>(</a:t>
            </a:r>
            <a:r>
              <a:rPr lang="en-US" altLang="en-US" sz="2400" i="1">
                <a:ea typeface="ＭＳ Ｐゴシック" charset="-128"/>
              </a:rPr>
              <a:t>empty list)</a:t>
            </a:r>
            <a:endParaRPr lang="en-US" altLang="en-US" sz="2400" b="1" i="1">
              <a:latin typeface="Courier New" charset="0"/>
              <a:ea typeface="ＭＳ Ｐゴシック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 b="1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000">
                <a:latin typeface="Courier New" charset="0"/>
                <a:ea typeface="ＭＳ Ｐゴシック" charset="-128"/>
              </a:rPr>
              <a:t>[X | Y]</a:t>
            </a:r>
            <a:r>
              <a:rPr lang="en-US" altLang="en-US" sz="2000" b="1">
                <a:latin typeface="Courier New" charset="0"/>
                <a:ea typeface="ＭＳ Ｐゴシック" charset="-128"/>
              </a:rPr>
              <a:t> </a:t>
            </a:r>
            <a:r>
              <a:rPr lang="en-US" altLang="en-US" sz="2400" b="1">
                <a:latin typeface="Courier New" charset="0"/>
                <a:ea typeface="ＭＳ Ｐゴシック" charset="-128"/>
              </a:rPr>
              <a:t>	</a:t>
            </a:r>
            <a:r>
              <a:rPr lang="en-US" altLang="en-US" sz="2400" b="1" i="1">
                <a:latin typeface="Courier New" charset="0"/>
                <a:ea typeface="ＭＳ Ｐゴシック" charset="-128"/>
              </a:rPr>
              <a:t>(</a:t>
            </a:r>
            <a:r>
              <a:rPr lang="en-US" altLang="en-US" sz="2400" i="1">
                <a:ea typeface="ＭＳ Ｐゴシック" charset="-128"/>
              </a:rPr>
              <a:t>head X and tail Y)</a:t>
            </a:r>
            <a:endParaRPr lang="en-US" altLang="en-US" sz="2400"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756A3-D26A-9AA7-252B-7AC17163FF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6ACB1D-8896-E4B0-C023-DA0EFCCDC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4" y="0"/>
            <a:ext cx="8865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202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51D118-5780-347B-65D0-7235369F2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3B7CB-E11B-1510-4A84-371FBB46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2" y="0"/>
            <a:ext cx="8945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865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2EB46D-88CA-763D-0558-EC17CE7669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E0D75-3E86-E3FE-BA84-5ED60F92D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5" y="0"/>
            <a:ext cx="8837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303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839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A9377D9F-AEF1-2F43-B582-446B1D642EC9}" type="slidenum">
              <a:rPr lang="en-US" altLang="en-US" sz="1000">
                <a:latin typeface="Arial" charset="0"/>
              </a:rPr>
              <a:pPr/>
              <a:t>67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Append Example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153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>
                <a:latin typeface="Courier New" charset="0"/>
                <a:ea typeface="ＭＳ Ｐゴシック" charset="-128"/>
              </a:rPr>
              <a:t>	</a:t>
            </a:r>
            <a:r>
              <a:rPr lang="en-US" altLang="en-US" sz="1800">
                <a:latin typeface="Courier New" charset="0"/>
                <a:ea typeface="ＭＳ Ｐゴシック" charset="-128"/>
              </a:rPr>
              <a:t>append([], List, List).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charset="0"/>
                <a:ea typeface="ＭＳ Ｐゴシック" charset="-128"/>
              </a:rPr>
              <a:t>	append([Head | List_1], List_2, [Head | List_3]) :- 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charset="0"/>
                <a:ea typeface="ＭＳ Ｐゴシック" charset="-128"/>
              </a:rPr>
              <a:t>              append (List_1, List_2, List_3).</a:t>
            </a:r>
            <a:endParaRPr lang="en-US" altLang="en-US" sz="1800" b="1">
              <a:latin typeface="Courier New" charset="0"/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10287000" cy="4572000"/>
          </a:xfrm>
        </p:spPr>
        <p:txBody>
          <a:bodyPr/>
          <a:lstStyle/>
          <a:p>
            <a:r>
              <a:rPr lang="en-US" sz="1800" dirty="0"/>
              <a:t>trace.</a:t>
            </a:r>
          </a:p>
          <a:p>
            <a:r>
              <a:rPr lang="en-US" sz="1800" dirty="0"/>
              <a:t>append([bob, jo], [</a:t>
            </a:r>
            <a:r>
              <a:rPr lang="en-US" sz="1800" dirty="0" err="1"/>
              <a:t>jake</a:t>
            </a:r>
            <a:r>
              <a:rPr lang="en-US" sz="1800" dirty="0"/>
              <a:t>, </a:t>
            </a:r>
            <a:r>
              <a:rPr lang="en-US" sz="1800" dirty="0" err="1"/>
              <a:t>darcie</a:t>
            </a:r>
            <a:r>
              <a:rPr lang="en-US" sz="1800" dirty="0"/>
              <a:t>], Family).</a:t>
            </a:r>
          </a:p>
          <a:p>
            <a:r>
              <a:rPr lang="en-US" sz="1800" dirty="0"/>
              <a:t>(1) 1 Call: append([bob, jo], [</a:t>
            </a:r>
            <a:r>
              <a:rPr lang="en-US" sz="1800" dirty="0" err="1"/>
              <a:t>jake</a:t>
            </a:r>
            <a:r>
              <a:rPr lang="en-US" sz="1800" dirty="0"/>
              <a:t>, </a:t>
            </a:r>
            <a:r>
              <a:rPr lang="en-US" sz="1800" dirty="0" err="1"/>
              <a:t>darcie</a:t>
            </a:r>
            <a:r>
              <a:rPr lang="en-US" sz="1800" dirty="0"/>
              <a:t>], _10)?</a:t>
            </a:r>
          </a:p>
          <a:p>
            <a:r>
              <a:rPr lang="en-US" sz="1800" dirty="0"/>
              <a:t>(2) 2 Call: append([jo], [</a:t>
            </a:r>
            <a:r>
              <a:rPr lang="en-US" sz="1800" dirty="0" err="1"/>
              <a:t>jake</a:t>
            </a:r>
            <a:r>
              <a:rPr lang="en-US" sz="1800" dirty="0"/>
              <a:t>, </a:t>
            </a:r>
            <a:r>
              <a:rPr lang="en-US" sz="1800" dirty="0" err="1"/>
              <a:t>darcie</a:t>
            </a:r>
            <a:r>
              <a:rPr lang="en-US" sz="1800" dirty="0"/>
              <a:t>], _18)?</a:t>
            </a:r>
          </a:p>
          <a:p>
            <a:r>
              <a:rPr lang="en-US" sz="1800" dirty="0"/>
              <a:t>(3) 3 Call: append([], [</a:t>
            </a:r>
            <a:r>
              <a:rPr lang="en-US" sz="1800" dirty="0" err="1"/>
              <a:t>jake</a:t>
            </a:r>
            <a:r>
              <a:rPr lang="en-US" sz="1800" dirty="0"/>
              <a:t>, </a:t>
            </a:r>
            <a:r>
              <a:rPr lang="en-US" sz="1800" dirty="0" err="1"/>
              <a:t>darcie</a:t>
            </a:r>
            <a:r>
              <a:rPr lang="en-US" sz="1800" dirty="0"/>
              <a:t>], _25)?</a:t>
            </a:r>
          </a:p>
          <a:p>
            <a:r>
              <a:rPr lang="pl-PL" sz="1800" dirty="0"/>
              <a:t>(3) 3 Exit: append([], [jake, darcie], [jake, darcie])</a:t>
            </a:r>
          </a:p>
          <a:p>
            <a:r>
              <a:rPr lang="nb-NO" sz="1800" dirty="0"/>
              <a:t>(2) 2 Exit: append([jo], [jake, darcie], [jo, jake, </a:t>
            </a:r>
            <a:r>
              <a:rPr lang="en-US" sz="1800" dirty="0" err="1"/>
              <a:t>darcie</a:t>
            </a:r>
            <a:r>
              <a:rPr lang="en-US" sz="1800" dirty="0"/>
              <a:t>])</a:t>
            </a:r>
          </a:p>
          <a:p>
            <a:r>
              <a:rPr lang="en-US" sz="1800" dirty="0"/>
              <a:t>(1) 1 Exit: append([bob, jo], [</a:t>
            </a:r>
            <a:r>
              <a:rPr lang="en-US" sz="1800" dirty="0" err="1"/>
              <a:t>jake</a:t>
            </a:r>
            <a:r>
              <a:rPr lang="en-US" sz="1800" dirty="0"/>
              <a:t>, </a:t>
            </a:r>
            <a:r>
              <a:rPr lang="en-US" sz="1800" dirty="0" err="1"/>
              <a:t>darcie</a:t>
            </a:r>
            <a:r>
              <a:rPr lang="en-US" sz="1800" dirty="0"/>
              <a:t>],</a:t>
            </a:r>
          </a:p>
          <a:p>
            <a:r>
              <a:rPr lang="en-US" sz="1800" dirty="0"/>
              <a:t>[bob, jo, </a:t>
            </a:r>
            <a:r>
              <a:rPr lang="en-US" sz="1800" dirty="0" err="1"/>
              <a:t>jake</a:t>
            </a:r>
            <a:r>
              <a:rPr lang="en-US" sz="1800" dirty="0"/>
              <a:t>, </a:t>
            </a:r>
            <a:r>
              <a:rPr lang="en-US" sz="1800" dirty="0" err="1"/>
              <a:t>darcie</a:t>
            </a:r>
            <a:r>
              <a:rPr lang="en-US" sz="1800" dirty="0"/>
              <a:t>])</a:t>
            </a:r>
          </a:p>
          <a:p>
            <a:r>
              <a:rPr lang="en-US" sz="1800" dirty="0"/>
              <a:t>Family = [bob, jo, </a:t>
            </a:r>
            <a:r>
              <a:rPr lang="en-US" sz="1800" dirty="0" err="1"/>
              <a:t>jake</a:t>
            </a:r>
            <a:r>
              <a:rPr lang="en-US" sz="1800" dirty="0"/>
              <a:t>, </a:t>
            </a:r>
            <a:r>
              <a:rPr lang="en-US" sz="1800" dirty="0" err="1"/>
              <a:t>darcie</a:t>
            </a:r>
            <a:r>
              <a:rPr lang="en-US" sz="1800" dirty="0"/>
              <a:t>]</a:t>
            </a:r>
          </a:p>
          <a:p>
            <a:r>
              <a:rPr lang="en-US" sz="1800" dirty="0"/>
              <a:t>yes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68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86489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2D6041-B5BE-8BF3-C950-5E067AE5EA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18F414-26E5-3F99-9A28-8B338825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2" y="0"/>
            <a:ext cx="8812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909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1DC16F-4551-AEA6-F262-23766145E6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870E0-61ED-AF8E-625D-E8292A968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44" y="0"/>
            <a:ext cx="8892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017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0BC705-B67D-A45C-4428-47CAA94298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4C7DC-FC5D-7535-6AF1-8DB088542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99" y="0"/>
            <a:ext cx="8855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287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B50CC8-DFBF-BB57-7381-3961E59C24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6FFE5-36D4-0E77-3013-6331BFFC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24" y="0"/>
            <a:ext cx="8895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505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4CFF33-DD68-35B4-843D-17E94BCF81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F319F-446C-7869-F46C-7B1EC9CEC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2" y="0"/>
            <a:ext cx="8982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182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E2894-CDB0-FC68-B4A1-83C180DA5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D91F3B-4076-317E-43C1-8BAF0BCC6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77" y="0"/>
            <a:ext cx="8827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444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0EAC32-0587-9583-153C-66CE314282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CAF54-D739-9243-58CB-250E9297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4" y="0"/>
            <a:ext cx="8897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846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8448B2-9DD2-C188-E7DF-5B3D44BC2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F1537-CB3C-6D1B-EDFA-2AFB6277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0" y="0"/>
            <a:ext cx="8985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27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2052C-62C3-3110-1A94-D6DFBE94DA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362583-2218-8C2B-2C09-111C1665B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1" y="0"/>
            <a:ext cx="8934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802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706F0F-C98B-86F8-CF84-1BDD44A9F7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1E10F-4ACC-6F93-483B-AF8EFF3C8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24" y="0"/>
            <a:ext cx="8895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912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96B665-E960-7698-31C0-8864A36E1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2FEEE-533F-01C4-DD86-7120D39BC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7" y="0"/>
            <a:ext cx="8781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554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562F86-2E85-8BC1-405C-7BF0D64751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0573D-2014-B58B-C86D-5DA02EE1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0" y="0"/>
            <a:ext cx="8965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477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FE8BEB-CA17-0793-97DF-3AF697C833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8ED23-2571-1069-5ADC-D00AC4EEC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" y="0"/>
            <a:ext cx="8938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22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293F3D-80E6-37FB-7024-B273C5B9A0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04C98-B2FA-E3D8-3AD5-7BC4BF21B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77" y="0"/>
            <a:ext cx="8849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425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865EAC-61EE-F434-E01D-04FAB66C0F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429AD-11CA-76C6-A2C1-7D8AB0394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10" y="0"/>
            <a:ext cx="8902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345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80851-93D0-68FA-AE73-4C1CB5C44F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58DC1-25CC-C9EA-87F7-47D794DFF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12" y="0"/>
            <a:ext cx="884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239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A4BE39-2D96-2B94-44FB-C33AD36FF8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FCAC6-6603-2935-C8AE-FE1DF9FC9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1" y="0"/>
            <a:ext cx="8918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43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1B4C20-706D-5DC1-B749-0318AB56A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5D5DE-72E7-C6FB-ECB1-014A320C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2" y="0"/>
            <a:ext cx="8941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606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16E7CB-57DE-357F-87FF-09627D0DBA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9557B-DDB2-8E3E-56F1-622AD6FBB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9" y="0"/>
            <a:ext cx="8976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422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DA538E-9750-F1A8-3D40-0B55F4267C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268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860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41C89CD8-B4DA-F746-B3B4-D48149F140DE}" type="slidenum">
              <a:rPr lang="en-US" altLang="en-US" sz="1000">
                <a:latin typeface="Arial" charset="0"/>
              </a:rPr>
              <a:pPr/>
              <a:t>89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More Examples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reverse([], []).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reverse([Head | Tail], List) :- 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  reverse (Tail, Result),  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           append (Result, [Head], List).</a:t>
            </a:r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charset="0"/>
              <a:ea typeface="ＭＳ Ｐゴシック" charset="-128"/>
            </a:endParaRPr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charset="0"/>
              <a:ea typeface="ＭＳ Ｐゴシック" charset="-128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member(Element, [Element | _]).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member(Element, [_ | List]) :-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charset="0"/>
                <a:ea typeface="ＭＳ Ｐゴシック" charset="-128"/>
              </a:rPr>
              <a:t>                       member(Element, List).</a:t>
            </a:r>
          </a:p>
          <a:p>
            <a:pPr eaLnBrk="1" hangingPunct="1">
              <a:buFontTx/>
              <a:buNone/>
            </a:pPr>
            <a:endParaRPr lang="en-US" altLang="en-US" sz="2000" dirty="0">
              <a:latin typeface="Courier New" charset="0"/>
              <a:ea typeface="ＭＳ Ｐゴシック" charset="-128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ea typeface="ＭＳ Ｐゴシック" charset="-128"/>
              </a:rPr>
              <a:t>    The underscore character means an anonymous variable—it means we do not care what instantiation it might get from unification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dirty="0"/>
              <a:t>trace.</a:t>
            </a:r>
          </a:p>
          <a:p>
            <a:r>
              <a:rPr lang="en-US" sz="1200" dirty="0"/>
              <a:t>reverse([a, b, c], Q).</a:t>
            </a:r>
          </a:p>
          <a:p>
            <a:r>
              <a:rPr lang="en-US" sz="1200" dirty="0"/>
              <a:t>(1) 1 Call: reverse([a, b, c], _6)?</a:t>
            </a:r>
          </a:p>
          <a:p>
            <a:r>
              <a:rPr lang="en-US" sz="1200" dirty="0"/>
              <a:t>(2) 2 Call: reverse([b, c], _65636)?</a:t>
            </a:r>
          </a:p>
          <a:p>
            <a:r>
              <a:rPr lang="en-US" sz="1200" dirty="0"/>
              <a:t>(3) 3 Call: reverse([c], _65646)?</a:t>
            </a:r>
          </a:p>
          <a:p>
            <a:r>
              <a:rPr lang="en-US" sz="1200" dirty="0"/>
              <a:t>(4) 4 Call: reverse([], _65656)?</a:t>
            </a:r>
          </a:p>
          <a:p>
            <a:r>
              <a:rPr lang="en-US" sz="1200" dirty="0"/>
              <a:t>(4) 4 Exit: reverse([], [])</a:t>
            </a:r>
          </a:p>
          <a:p>
            <a:r>
              <a:rPr lang="en-US" sz="1200" dirty="0"/>
              <a:t>(5) 4 Call: append([], [c], _65646)?</a:t>
            </a:r>
          </a:p>
          <a:p>
            <a:r>
              <a:rPr lang="en-US" sz="1200" dirty="0"/>
              <a:t>(5) 4 Exit: append([], [c], [c])</a:t>
            </a:r>
          </a:p>
          <a:p>
            <a:r>
              <a:rPr lang="fr-FR" sz="1200" dirty="0"/>
              <a:t>(3) 3 Exit: reverse([c], [c])</a:t>
            </a:r>
          </a:p>
          <a:p>
            <a:r>
              <a:rPr lang="en-US" sz="1200" dirty="0"/>
              <a:t>(6) 3 Call: append([c], [b], _65636)?</a:t>
            </a:r>
          </a:p>
          <a:p>
            <a:r>
              <a:rPr lang="en-US" sz="1200" dirty="0"/>
              <a:t>(7) 4 Call: append([], [b], _25)?</a:t>
            </a:r>
          </a:p>
          <a:p>
            <a:r>
              <a:rPr lang="en-US" sz="1200" dirty="0"/>
              <a:t>(7) 4 Exit: append([], [b], [b])</a:t>
            </a:r>
          </a:p>
          <a:p>
            <a:r>
              <a:rPr lang="en-US" sz="1200" dirty="0"/>
              <a:t>(6) 3 Exit: append([c], [b], [c, b])</a:t>
            </a:r>
          </a:p>
          <a:p>
            <a:r>
              <a:rPr lang="en-US" sz="1200" dirty="0"/>
              <a:t>(2) 2 Exit: reverse([b, c], [c, b])</a:t>
            </a:r>
          </a:p>
          <a:p>
            <a:r>
              <a:rPr lang="en-US" sz="1200" dirty="0"/>
              <a:t>(8) 2 Call: append([c, b], [a], _6)?</a:t>
            </a:r>
          </a:p>
          <a:p>
            <a:r>
              <a:rPr lang="en-US" sz="1200" dirty="0"/>
              <a:t>(9) 3 Call: append([b], [a], _32)?</a:t>
            </a:r>
          </a:p>
          <a:p>
            <a:r>
              <a:rPr lang="en-US" sz="1200" dirty="0"/>
              <a:t>(10) 4 Call: append([], [a], _39)?</a:t>
            </a:r>
          </a:p>
          <a:p>
            <a:r>
              <a:rPr lang="en-US" sz="1200" dirty="0"/>
              <a:t>(10) 4 Exit: append([], [a], [a])</a:t>
            </a:r>
          </a:p>
          <a:p>
            <a:r>
              <a:rPr lang="en-US" sz="1200" dirty="0"/>
              <a:t>(9) 3 Exit: append([b], [a], [b, a])</a:t>
            </a:r>
          </a:p>
          <a:p>
            <a:r>
              <a:rPr lang="en-US" sz="1200" dirty="0"/>
              <a:t>(8) 2 Exit: append([c, b], [a], [c, b, a])</a:t>
            </a:r>
          </a:p>
          <a:p>
            <a:r>
              <a:rPr lang="en-US" sz="1200" dirty="0"/>
              <a:t>(1) 1 Exit: reverse([a, b, c], [c, b, a])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90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429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trace.</a:t>
            </a:r>
          </a:p>
          <a:p>
            <a:r>
              <a:rPr lang="en-US" sz="1400" dirty="0"/>
              <a:t>member(a, [b, c, d]).</a:t>
            </a:r>
          </a:p>
          <a:p>
            <a:r>
              <a:rPr lang="en-US" sz="1400" dirty="0"/>
              <a:t>(1) 1 Call: member(a, [b, c, d])?</a:t>
            </a:r>
          </a:p>
          <a:p>
            <a:r>
              <a:rPr lang="en-US" sz="1400" dirty="0"/>
              <a:t>(2) 2 Call: member(a, [c, d])?</a:t>
            </a:r>
          </a:p>
          <a:p>
            <a:r>
              <a:rPr lang="en-US" sz="1400" dirty="0"/>
              <a:t>(3) 3 Call: member(a, [d])?</a:t>
            </a:r>
          </a:p>
          <a:p>
            <a:r>
              <a:rPr lang="en-US" sz="1400" dirty="0"/>
              <a:t>(4) 4 Call: member(a, [])?</a:t>
            </a:r>
          </a:p>
          <a:p>
            <a:r>
              <a:rPr lang="en-US" sz="1400" dirty="0"/>
              <a:t>(4) 4 Fail: member(a, [])</a:t>
            </a:r>
          </a:p>
          <a:p>
            <a:r>
              <a:rPr lang="en-US" sz="1400" dirty="0"/>
              <a:t>(3) 3 Fail: member(a, [d])</a:t>
            </a:r>
          </a:p>
          <a:p>
            <a:r>
              <a:rPr lang="en-US" sz="1400" dirty="0"/>
              <a:t>(2) 2 Fail: member(a, [c, d])</a:t>
            </a:r>
          </a:p>
          <a:p>
            <a:r>
              <a:rPr lang="en-US" sz="1400" dirty="0"/>
              <a:t>(1) 1 Fail: member(a, [b, c, d])</a:t>
            </a:r>
          </a:p>
          <a:p>
            <a:r>
              <a:rPr lang="en-US" sz="1400" dirty="0"/>
              <a:t>no</a:t>
            </a:r>
          </a:p>
          <a:p>
            <a:r>
              <a:rPr lang="en-US" sz="1400" dirty="0"/>
              <a:t>member(a, [b, a, c]).</a:t>
            </a:r>
          </a:p>
          <a:p>
            <a:r>
              <a:rPr lang="en-US" sz="1400" dirty="0"/>
              <a:t>(1) 1 Call: member(a, [b, a, c])?</a:t>
            </a:r>
          </a:p>
          <a:p>
            <a:r>
              <a:rPr lang="en-US" sz="1400" dirty="0"/>
              <a:t>(2) 2 Call: member(a, [a, c])?</a:t>
            </a:r>
          </a:p>
          <a:p>
            <a:r>
              <a:rPr lang="en-US" sz="1400" dirty="0"/>
              <a:t>(2) 2 Exit: member(a, [a, c])</a:t>
            </a:r>
          </a:p>
          <a:p>
            <a:r>
              <a:rPr lang="en-US" sz="1400" dirty="0"/>
              <a:t>(1) 1 Exit: member(a, [b, a, c])</a:t>
            </a:r>
          </a:p>
          <a:p>
            <a:r>
              <a:rPr lang="en-US" sz="1400" dirty="0"/>
              <a:t>yes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0E7F7F94-794F-1140-8D9B-5F399CE33814}" type="slidenum">
              <a:rPr lang="en-US" altLang="en-US" smtClean="0"/>
              <a:pPr/>
              <a:t>91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9249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8548B4-9ECF-6B83-C3AD-5465EF497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1-</a:t>
            </a:r>
            <a:fld id="{C80C39F2-66A8-C841-B7C8-BDBA60F29404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A928E-C106-21DD-2909-EC2791669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" y="0"/>
            <a:ext cx="8988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46439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880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87F96856-FEA4-BC45-955E-8A091149B16A}" type="slidenum">
              <a:rPr lang="en-US" altLang="en-US" sz="1000">
                <a:latin typeface="Arial" charset="0"/>
              </a:rPr>
              <a:pPr/>
              <a:t>93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Deficiencies of Prolog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5181600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ＭＳ Ｐゴシック" charset="-128"/>
              </a:rPr>
              <a:t>Resolution order control</a:t>
            </a:r>
          </a:p>
          <a:p>
            <a:pPr lvl="1" eaLnBrk="1" hangingPunct="1"/>
            <a:r>
              <a:rPr lang="en-US" altLang="en-US" sz="2200"/>
              <a:t>In a pure logic programming environment, the order of attempted matches is nondeterministic and all matches would be attempted concurrently</a:t>
            </a: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The closed-world assumption</a:t>
            </a:r>
          </a:p>
          <a:p>
            <a:pPr lvl="1" eaLnBrk="1" hangingPunct="1"/>
            <a:r>
              <a:rPr lang="en-US" altLang="en-US" sz="2200"/>
              <a:t>The only knowledge is what is in the database</a:t>
            </a: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The negation problem</a:t>
            </a:r>
          </a:p>
          <a:p>
            <a:pPr lvl="1" eaLnBrk="1" hangingPunct="1"/>
            <a:r>
              <a:rPr lang="en-US" altLang="en-US" sz="2200"/>
              <a:t>Anything not stated in the database is assumed to be false</a:t>
            </a:r>
          </a:p>
          <a:p>
            <a:pPr eaLnBrk="1" hangingPunct="1"/>
            <a:r>
              <a:rPr lang="en-US" altLang="en-US" sz="2400">
                <a:ea typeface="ＭＳ Ｐゴシック" charset="-128"/>
              </a:rPr>
              <a:t>Intrinsic limitations</a:t>
            </a:r>
          </a:p>
          <a:p>
            <a:pPr lvl="1" eaLnBrk="1" hangingPunct="1"/>
            <a:r>
              <a:rPr lang="en-US" altLang="en-US" sz="2200"/>
              <a:t>It is easy to state a sort process in logic, but difficult to actually do—it doesn’t know how to sort</a:t>
            </a:r>
          </a:p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901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193CC85F-39F6-3F4D-88CD-DD902FF6CC43}" type="slidenum">
              <a:rPr lang="en-US" altLang="en-US" sz="1000">
                <a:latin typeface="Arial" charset="0"/>
              </a:rPr>
              <a:pPr/>
              <a:t>94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Applications of Logic Programming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Relational database management systems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Expert systems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Natural language processing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en-US"/>
              <a:t>Copyright © 2017 Pearson Education, Ltd. All rights reserved.</a:t>
            </a:r>
            <a:endParaRPr lang="en-US" altLang="en-US" sz="1000">
              <a:latin typeface="Arial" charset="0"/>
            </a:endParaRPr>
          </a:p>
        </p:txBody>
      </p:sp>
      <p:sp>
        <p:nvSpPr>
          <p:cNvPr id="921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000">
                <a:latin typeface="Arial" charset="0"/>
              </a:rPr>
              <a:t>1-</a:t>
            </a:r>
            <a:fld id="{41161679-1937-6E4C-A72E-030203CA644B}" type="slidenum">
              <a:rPr lang="en-US" altLang="en-US" sz="1000">
                <a:latin typeface="Arial" charset="0"/>
              </a:rPr>
              <a:pPr/>
              <a:t>95</a:t>
            </a:fld>
            <a:endParaRPr lang="en-US" altLang="en-US" sz="1000">
              <a:latin typeface="Arial" charset="0"/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Summary</a:t>
            </a: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Symbolic logic provides basis for logic programming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Logic programs should be nonprocedural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Prolog statements are facts, rules, or goals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Resolution is the primary activity of a Prolog interpreter</a:t>
            </a:r>
          </a:p>
          <a:p>
            <a:pPr eaLnBrk="1" hangingPunct="1"/>
            <a:r>
              <a:rPr lang="en-US" altLang="en-US">
                <a:ea typeface="ＭＳ Ｐゴシック" charset="-128"/>
              </a:rPr>
              <a:t>Although there are a number of drawbacks with the current state of logic programming it has been used in a number of areas</a:t>
            </a:r>
          </a:p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13069</TotalTime>
  <Words>3626</Words>
  <Application>Microsoft Office PowerPoint</Application>
  <PresentationFormat>On-screen Show (4:3)</PresentationFormat>
  <Paragraphs>542</Paragraphs>
  <Slides>95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5" baseType="lpstr">
      <vt:lpstr>ＭＳ Ｐゴシック</vt:lpstr>
      <vt:lpstr>Arial</vt:lpstr>
      <vt:lpstr>Calibri</vt:lpstr>
      <vt:lpstr>Courier New</vt:lpstr>
      <vt:lpstr>Helvetica</vt:lpstr>
      <vt:lpstr>Lucida Sans Unicode</vt:lpstr>
      <vt:lpstr>Math1</vt:lpstr>
      <vt:lpstr>Symbol</vt:lpstr>
      <vt:lpstr>Times</vt:lpstr>
      <vt:lpstr>1_sebesta</vt:lpstr>
      <vt:lpstr>Logic Programming Languages</vt:lpstr>
      <vt:lpstr>Introduction</vt:lpstr>
      <vt:lpstr>Proposition</vt:lpstr>
      <vt:lpstr>Symbolic Logic</vt:lpstr>
      <vt:lpstr>Object Representation</vt:lpstr>
      <vt:lpstr>Compound Terms</vt:lpstr>
      <vt:lpstr>Parts of a Compound Term</vt:lpstr>
      <vt:lpstr>Forms of a Proposition</vt:lpstr>
      <vt:lpstr>Logical Operators</vt:lpstr>
      <vt:lpstr>Quantifiers</vt:lpstr>
      <vt:lpstr>Clausal Form</vt:lpstr>
      <vt:lpstr>Example Clausal Forms</vt:lpstr>
      <vt:lpstr>Predicate Calculus and Proving Theorems</vt:lpstr>
      <vt:lpstr>Concept of Resolution </vt:lpstr>
      <vt:lpstr>Concept of Resolution </vt:lpstr>
      <vt:lpstr>Concept of Resolution </vt:lpstr>
      <vt:lpstr>Resolution</vt:lpstr>
      <vt:lpstr>Proof by Contradiction</vt:lpstr>
      <vt:lpstr>Theorem Proving</vt:lpstr>
      <vt:lpstr>Overview of Logic Programming</vt:lpstr>
      <vt:lpstr>Example: Sorting a List</vt:lpstr>
      <vt:lpstr>The Origins of Prolog</vt:lpstr>
      <vt:lpstr>Terms</vt:lpstr>
      <vt:lpstr>Terms: Variables and Structures</vt:lpstr>
      <vt:lpstr>Fact Statements</vt:lpstr>
      <vt:lpstr>Rule Statements</vt:lpstr>
      <vt:lpstr>Rule Statements</vt:lpstr>
      <vt:lpstr>Example Rules</vt:lpstr>
      <vt:lpstr>Goal Statements</vt:lpstr>
      <vt:lpstr>Inferencing Process of Prolog</vt:lpstr>
      <vt:lpstr>Approaches</vt:lpstr>
      <vt:lpstr>Subgoal Strategies</vt:lpstr>
      <vt:lpstr>Backtracking</vt:lpstr>
      <vt:lpstr>Simple Arithmetic</vt:lpstr>
      <vt:lpstr>Example</vt:lpstr>
      <vt:lpstr>Trace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 Structures</vt:lpstr>
      <vt:lpstr>PowerPoint Presentation</vt:lpstr>
      <vt:lpstr>PowerPoint Presentation</vt:lpstr>
      <vt:lpstr>PowerPoint Presentation</vt:lpstr>
      <vt:lpstr>Append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Examples</vt:lpstr>
      <vt:lpstr>PowerPoint Presentation</vt:lpstr>
      <vt:lpstr>PowerPoint Presentation</vt:lpstr>
      <vt:lpstr>PowerPoint Presentation</vt:lpstr>
      <vt:lpstr>Deficiencies of Prolog</vt:lpstr>
      <vt:lpstr>Applications of Logic Programming</vt:lpstr>
      <vt:lpstr>Summary</vt:lpstr>
    </vt:vector>
  </TitlesOfParts>
  <Company>Pearson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PINAR DUYGULU ŞAHİN</cp:lastModifiedBy>
  <cp:revision>215</cp:revision>
  <cp:lastPrinted>2020-11-24T08:19:02Z</cp:lastPrinted>
  <dcterms:created xsi:type="dcterms:W3CDTF">2003-08-01T12:29:19Z</dcterms:created>
  <dcterms:modified xsi:type="dcterms:W3CDTF">2025-12-17T18:25:06Z</dcterms:modified>
</cp:coreProperties>
</file>