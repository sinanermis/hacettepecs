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78" r:id="rId3"/>
    <p:sldId id="282" r:id="rId4"/>
    <p:sldId id="281" r:id="rId5"/>
    <p:sldId id="289" r:id="rId6"/>
    <p:sldId id="270" r:id="rId7"/>
    <p:sldId id="272" r:id="rId8"/>
    <p:sldId id="277" r:id="rId9"/>
    <p:sldId id="280" r:id="rId10"/>
    <p:sldId id="283" r:id="rId11"/>
    <p:sldId id="284" r:id="rId12"/>
    <p:sldId id="285" r:id="rId13"/>
    <p:sldId id="286" r:id="rId14"/>
    <p:sldId id="287" r:id="rId15"/>
    <p:sldId id="288" r:id="rId16"/>
    <p:sldId id="273" r:id="rId17"/>
    <p:sldId id="275" r:id="rId1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/>
    <p:restoredTop sz="94619"/>
  </p:normalViewPr>
  <p:slideViewPr>
    <p:cSldViewPr snapToGrid="0" snapToObjects="1">
      <p:cViewPr varScale="1">
        <p:scale>
          <a:sx n="109" d="100"/>
          <a:sy n="109" d="100"/>
        </p:scale>
        <p:origin x="7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7A562-DBA4-364D-A98E-ED6469DB89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E19BBE-D25C-6D44-9F6C-0C998A877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DB100-EB0D-E149-969A-48FE51F5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F951-6A38-C64E-8E06-0CC6A0ADEDBA}" type="datetimeFigureOut">
              <a:rPr lang="tr-TR" smtClean="0"/>
              <a:t>4.12.2024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D1B62-8046-F043-9AE8-02D6447E7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D73D5-F3A9-9C4E-8C9D-233D624B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057A-E971-F644-90DD-E99ED20D4F6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6922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4DCA7-CEE9-9040-A4FC-4A22C1767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365E2-F7CB-6A45-A7C9-16AF63930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F090C-0CDE-D348-A132-0AD432F7D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F951-6A38-C64E-8E06-0CC6A0ADEDBA}" type="datetimeFigureOut">
              <a:rPr lang="tr-TR" smtClean="0"/>
              <a:t>4.12.2024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4338F-44B8-334A-8A26-D6B38F79D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EF1BF-E2BB-2D4C-B2D4-43231D7E1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057A-E971-F644-90DD-E99ED20D4F6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04209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6913B-0595-6E45-A548-F872D41A8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B7622-4AA8-304B-80D4-5CDC2C3D7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FC439-6E44-1A4C-801B-F374034F2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F951-6A38-C64E-8E06-0CC6A0ADEDBA}" type="datetimeFigureOut">
              <a:rPr lang="tr-TR" smtClean="0"/>
              <a:t>4.12.2024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E34EE-5408-0842-9253-263B6053D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E2167-B0B1-E842-A48F-832FAF850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057A-E971-F644-90DD-E99ED20D4F6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68504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63C96-92D1-1B48-9A58-687DDC33B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D60AC-E85A-A347-B7CD-AE6F08455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BBB472-8060-5646-A99A-5739477F6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BA646-2101-DD4F-BAE5-F735A447F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F951-6A38-C64E-8E06-0CC6A0ADEDBA}" type="datetimeFigureOut">
              <a:rPr lang="tr-TR" smtClean="0"/>
              <a:t>4.12.2024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835339-4151-CA49-954F-6DB71A577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8D9AB5-70DA-724E-9B61-48187ADB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057A-E971-F644-90DD-E99ED20D4F6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0686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79983-53A1-8042-B74F-504E0816C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0D5DC-FD36-CE49-ACE3-947BED2E3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6D6A36-63A3-B946-AB9B-A6E946774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A2CEB6-51CA-D947-8622-491ECE6034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17BDE6-FCA8-D746-B3E2-B651BAC0F3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A12CC9-4BB7-2140-B937-0801517B8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F951-6A38-C64E-8E06-0CC6A0ADEDBA}" type="datetimeFigureOut">
              <a:rPr lang="tr-TR" smtClean="0"/>
              <a:t>4.12.2024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7D5C04-84D5-914A-BEEA-8B9B48D7C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36807-75E9-5946-B500-3D5C0A3C1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057A-E971-F644-90DD-E99ED20D4F6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82949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E3AE0-34D3-F545-98D7-6E4775C2B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6BCC19-D110-F649-AD71-9B557B896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F951-6A38-C64E-8E06-0CC6A0ADEDBA}" type="datetimeFigureOut">
              <a:rPr lang="tr-TR" smtClean="0"/>
              <a:t>4.12.2024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0D327C-3C37-A64F-8B60-A407B5F6D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AA6B77-F45E-1546-90D8-C3E6C7463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057A-E971-F644-90DD-E99ED20D4F6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42057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366AFD-138F-F148-B55C-8EB1BD2B7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F951-6A38-C64E-8E06-0CC6A0ADEDBA}" type="datetimeFigureOut">
              <a:rPr lang="tr-TR" smtClean="0"/>
              <a:t>4.12.2024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FC90F4-89A0-1145-B230-14CD5AA70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6D843-6F61-AE43-BE1F-89D331C3E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057A-E971-F644-90DD-E99ED20D4F6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53954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5C88D-F795-314E-81C1-BA50F3723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2DF2C-4571-3E42-BB41-4E6987DD9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E8B6F8-0B1B-E248-AE3F-8A0578B3D1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F848E-906A-494B-9744-FBE6B8CB0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F951-6A38-C64E-8E06-0CC6A0ADEDBA}" type="datetimeFigureOut">
              <a:rPr lang="tr-TR" smtClean="0"/>
              <a:t>4.12.2024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DA766-BA75-DB43-AA62-94357E90A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DB784-9F92-A740-A97D-065C39715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057A-E971-F644-90DD-E99ED20D4F6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34360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F0773-D19F-4040-B58C-CFFE5000E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598517-19C1-4845-B1D7-973D973B3E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A2E7D0-9F47-5047-A326-4056DC6D56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F725F8-1FF9-9145-A091-709CA5A62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F951-6A38-C64E-8E06-0CC6A0ADEDBA}" type="datetimeFigureOut">
              <a:rPr lang="tr-TR" smtClean="0"/>
              <a:t>4.12.2024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D0317D-074C-1540-A495-35D840C6F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881FEF-2B43-3246-BB70-1C2FEC2F7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057A-E971-F644-90DD-E99ED20D4F6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2298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87C36-5D16-9548-B34E-8F09FDA1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824045-DF9D-1F41-B55D-350ADB3F65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C3808-182E-0F42-8055-664F957CE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F951-6A38-C64E-8E06-0CC6A0ADEDBA}" type="datetimeFigureOut">
              <a:rPr lang="tr-TR" smtClean="0"/>
              <a:t>4.12.2024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E02BD-B412-654A-BD59-77EE39B4E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8D90C-902E-B745-AA55-414A53240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057A-E971-F644-90DD-E99ED20D4F6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75347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F8BBFE-954B-0742-AC3C-07952B58F8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B7C59C-2894-9E42-ABF3-BA15704DF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B77DB-A836-CD4D-8383-C9BC212EB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F951-6A38-C64E-8E06-0CC6A0ADEDBA}" type="datetimeFigureOut">
              <a:rPr lang="tr-TR" smtClean="0"/>
              <a:t>4.12.2024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0088A-611B-9540-AC59-59DA20880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B304E-D727-9741-9640-1B7429C72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057A-E971-F644-90DD-E99ED20D4F6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27890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9EA740-4980-5049-B04E-2606C4B2F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15972-1051-A04A-842E-DA7846007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1A199-28F6-B242-A9F3-13347011B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AF951-6A38-C64E-8E06-0CC6A0ADEDBA}" type="datetimeFigureOut">
              <a:rPr lang="tr-TR" smtClean="0"/>
              <a:t>4.12.2024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4874E-D260-E443-A6E2-AFB476CA10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DEFB8-E369-6544-82F2-CB46DC434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40057A-E971-F644-90DD-E99ED20D4F6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69247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181E8-31D3-3F2D-3ABA-760C67CCB0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 dirty="0"/>
              <a:t>Midterm 2 review</a:t>
            </a:r>
            <a:endParaRPr lang="en-T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91958-B5F3-2905-77CE-942D0AC567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470687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83D04C-77C0-AE72-83F4-1B06B689B5C5}"/>
              </a:ext>
            </a:extLst>
          </p:cNvPr>
          <p:cNvSpPr txBox="1"/>
          <p:nvPr/>
        </p:nvSpPr>
        <p:spPr>
          <a:xfrm>
            <a:off x="597877" y="584392"/>
            <a:ext cx="10187354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What does the following Scheme function do?</a:t>
            </a:r>
            <a:endParaRPr lang="en-TR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TR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define (x </a:t>
            </a:r>
            <a:r>
              <a:rPr lang="en-US" sz="2400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lis</a:t>
            </a:r>
            <a:r>
              <a:rPr lang="en-US" sz="24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TR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indent="457200"/>
            <a:r>
              <a:rPr lang="en-US" sz="24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cond</a:t>
            </a:r>
            <a:endParaRPr lang="en-TR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457200" indent="457200"/>
            <a:r>
              <a:rPr lang="en-US" sz="24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((null? </a:t>
            </a:r>
            <a:r>
              <a:rPr lang="en-US" sz="2400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lis</a:t>
            </a:r>
            <a:r>
              <a:rPr lang="en-US" sz="24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0)</a:t>
            </a:r>
            <a:endParaRPr lang="en-TR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457200" indent="457200"/>
            <a:r>
              <a:rPr lang="en-US" sz="24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((not (list? (car </a:t>
            </a:r>
            <a:r>
              <a:rPr lang="en-US" sz="2400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lis</a:t>
            </a:r>
            <a:r>
              <a:rPr lang="en-US" sz="24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)))</a:t>
            </a:r>
            <a:endParaRPr lang="en-TR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914400" indent="457200"/>
            <a:r>
              <a:rPr lang="en-US" sz="24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cond</a:t>
            </a:r>
            <a:endParaRPr lang="en-TR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914400" indent="457200"/>
            <a:r>
              <a:rPr lang="en-US" sz="24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((eq? (car </a:t>
            </a:r>
            <a:r>
              <a:rPr lang="en-US" sz="2400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lis</a:t>
            </a:r>
            <a:r>
              <a:rPr lang="en-US" sz="24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#f) (x (</a:t>
            </a:r>
            <a:r>
              <a:rPr lang="en-US" sz="2400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cdr</a:t>
            </a:r>
            <a:r>
              <a:rPr lang="en-US" sz="24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lis</a:t>
            </a:r>
            <a:r>
              <a:rPr lang="en-US" sz="24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)))</a:t>
            </a:r>
            <a:endParaRPr lang="en-TR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914400" indent="457200"/>
            <a:r>
              <a:rPr lang="en-US" sz="24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(else (+ 1 (x (</a:t>
            </a:r>
            <a:r>
              <a:rPr lang="en-US" sz="2400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cdr</a:t>
            </a:r>
            <a:r>
              <a:rPr lang="en-US" sz="24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lis</a:t>
            </a:r>
            <a:r>
              <a:rPr lang="en-US" sz="24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))))))</a:t>
            </a:r>
            <a:endParaRPr lang="en-TR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457200" indent="457200"/>
            <a:r>
              <a:rPr lang="en-US" sz="24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(else (+ (x (car </a:t>
            </a:r>
            <a:r>
              <a:rPr lang="en-US" sz="2400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lis</a:t>
            </a:r>
            <a:r>
              <a:rPr lang="en-US" sz="24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 (x (</a:t>
            </a:r>
            <a:r>
              <a:rPr lang="en-US" sz="2400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cdr</a:t>
            </a:r>
            <a:r>
              <a:rPr lang="en-US" sz="24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lis</a:t>
            </a:r>
            <a:r>
              <a:rPr lang="en-US" sz="24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))))</a:t>
            </a:r>
          </a:p>
          <a:p>
            <a:pPr marL="457200" indent="457200"/>
            <a:endParaRPr lang="en-US" sz="2400" dirty="0"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457200" indent="457200"/>
            <a:endParaRPr lang="en-TR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200"/>
              </a:spcBef>
            </a:pPr>
            <a:r>
              <a:rPr lang="en-US" sz="24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returns the number of non-</a:t>
            </a:r>
            <a:r>
              <a:rPr lang="en-US" sz="24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#f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atoms in the given list. </a:t>
            </a:r>
            <a:endParaRPr lang="en-TR" sz="2400" dirty="0">
              <a:solidFill>
                <a:srgbClr val="FF0000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TR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154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52135D-AF12-D18A-ABB6-BE37B7360B80}"/>
              </a:ext>
            </a:extLst>
          </p:cNvPr>
          <p:cNvSpPr txBox="1"/>
          <p:nvPr/>
        </p:nvSpPr>
        <p:spPr>
          <a:xfrm>
            <a:off x="785445" y="464904"/>
            <a:ext cx="107383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Write a Scheme function that returns the union of two simple list parameters</a:t>
            </a:r>
            <a:r>
              <a:rPr lang="en-TR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that represent sets.</a:t>
            </a:r>
            <a:endParaRPr lang="en-TR" sz="24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B43B5B-348E-24E9-5BCD-1BF4763F83F7}"/>
              </a:ext>
            </a:extLst>
          </p:cNvPr>
          <p:cNvSpPr txBox="1"/>
          <p:nvPr/>
        </p:nvSpPr>
        <p:spPr>
          <a:xfrm>
            <a:off x="1008185" y="1719651"/>
            <a:ext cx="10515599" cy="274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spcBef>
                <a:spcPts val="1200"/>
              </a:spcBef>
            </a:pPr>
            <a:r>
              <a:rPr lang="en-US" sz="2000" b="1" i="0" u="none" strike="noStrike" kern="0" spc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(DEFINE (union set1 set2)</a:t>
            </a:r>
            <a:endParaRPr lang="en-TR" sz="2000" b="1" dirty="0">
              <a:solidFill>
                <a:srgbClr val="FF0000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200"/>
              </a:spcBef>
            </a:pPr>
            <a:r>
              <a:rPr lang="en-US" sz="2000" b="1" i="0" u="none" strike="noStrike" kern="0" spc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      (COND </a:t>
            </a:r>
          </a:p>
          <a:p>
            <a:pPr>
              <a:lnSpc>
                <a:spcPts val="1200"/>
              </a:lnSpc>
              <a:spcBef>
                <a:spcPts val="1200"/>
              </a:spcBef>
            </a:pPr>
            <a:r>
              <a:rPr lang="en-US" sz="2000" b="1" kern="0" dirty="0">
                <a:solidFill>
                  <a:srgbClr val="FF0000"/>
                </a:solidFill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        </a:t>
            </a:r>
            <a:r>
              <a:rPr lang="en-US" sz="2000" b="1" i="0" u="none" strike="noStrike" kern="0" spc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((NULL? set1) set2)</a:t>
            </a:r>
            <a:endParaRPr lang="en-TR" sz="2000" b="1" dirty="0">
              <a:solidFill>
                <a:srgbClr val="FF0000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200"/>
              </a:spcBef>
            </a:pPr>
            <a:r>
              <a:rPr lang="en-US" sz="2000" b="1" i="0" u="none" strike="noStrike" kern="0" spc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        ((MEMBER (CAR set1) set2) (union (CDR set1) set2))</a:t>
            </a:r>
            <a:endParaRPr lang="en-TR" sz="2000" b="1" dirty="0">
              <a:solidFill>
                <a:srgbClr val="FF0000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200"/>
              </a:spcBef>
            </a:pPr>
            <a:r>
              <a:rPr lang="en-US" sz="2000" b="1" i="0" u="none" strike="noStrike" kern="0" spc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      (ELSE </a:t>
            </a:r>
          </a:p>
          <a:p>
            <a:pPr>
              <a:lnSpc>
                <a:spcPts val="1200"/>
              </a:lnSpc>
              <a:spcBef>
                <a:spcPts val="1200"/>
              </a:spcBef>
            </a:pPr>
            <a:r>
              <a:rPr lang="en-US" sz="2000" b="1" kern="0" dirty="0">
                <a:solidFill>
                  <a:srgbClr val="FF0000"/>
                </a:solidFill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        </a:t>
            </a:r>
            <a:r>
              <a:rPr lang="en-US" sz="2000" b="1" i="0" u="none" strike="noStrike" kern="0" spc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(CONS (CAR set1) (</a:t>
            </a:r>
            <a:r>
              <a:rPr lang="en-US" sz="2000" b="1" kern="0" dirty="0">
                <a:solidFill>
                  <a:srgbClr val="FF0000"/>
                </a:solidFill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union (CDR set1) set2))</a:t>
            </a:r>
          </a:p>
          <a:p>
            <a:pPr>
              <a:lnSpc>
                <a:spcPts val="1200"/>
              </a:lnSpc>
              <a:spcBef>
                <a:spcPts val="1200"/>
              </a:spcBef>
            </a:pPr>
            <a:r>
              <a:rPr lang="en-US" sz="2000" b="1" kern="0" dirty="0">
                <a:solidFill>
                  <a:srgbClr val="FF0000"/>
                </a:solidFill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      )</a:t>
            </a:r>
            <a:endParaRPr lang="en-TR" sz="2000" b="1" dirty="0">
              <a:solidFill>
                <a:srgbClr val="FF0000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200"/>
              </a:spcBef>
            </a:pPr>
            <a:r>
              <a:rPr lang="en-US" sz="2000" b="1" i="0" u="none" strike="noStrike" kern="0" spc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    )</a:t>
            </a:r>
          </a:p>
          <a:p>
            <a:pPr>
              <a:lnSpc>
                <a:spcPts val="1200"/>
              </a:lnSpc>
              <a:spcBef>
                <a:spcPts val="1200"/>
              </a:spcBef>
            </a:pPr>
            <a:r>
              <a:rPr lang="en-US" sz="2000" b="1" i="0" u="none" strike="noStrike" kern="0" spc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)</a:t>
            </a:r>
            <a:endParaRPr lang="en-TR" sz="2000" b="1" dirty="0">
              <a:solidFill>
                <a:srgbClr val="FF0000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226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C98ECC-9FCD-A3D4-E3AB-756E187D9EB4}"/>
              </a:ext>
            </a:extLst>
          </p:cNvPr>
          <p:cNvSpPr txBox="1"/>
          <p:nvPr/>
        </p:nvSpPr>
        <p:spPr>
          <a:xfrm>
            <a:off x="539261" y="395340"/>
            <a:ext cx="11488615" cy="1191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Write a Scheme function that takes a list and an atom as parameters and returns a list identical to its parameter list except with all 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top-level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instances of the given atom deleted.</a:t>
            </a:r>
            <a:r>
              <a:rPr lang="en-US" sz="24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endParaRPr lang="en-TR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200"/>
              </a:spcBef>
            </a:pPr>
            <a:r>
              <a:rPr lang="en-US" sz="24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TR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8AF27-374F-BDD4-B260-4EC585FEF8FA}"/>
              </a:ext>
            </a:extLst>
          </p:cNvPr>
          <p:cNvSpPr txBox="1"/>
          <p:nvPr/>
        </p:nvSpPr>
        <p:spPr>
          <a:xfrm>
            <a:off x="691661" y="1521299"/>
            <a:ext cx="11336216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(DEFINE (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deleteall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 atm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lst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  (COND</a:t>
            </a:r>
          </a:p>
          <a:p>
            <a:pPr>
              <a:spcBef>
                <a:spcPts val="1200"/>
              </a:spcBef>
            </a:pP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    ((NULL?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lst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) '())</a:t>
            </a:r>
          </a:p>
          <a:p>
            <a:pPr>
              <a:spcBef>
                <a:spcPts val="1200"/>
              </a:spcBef>
            </a:pP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    ((EQ? atm (CAR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lst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))</a:t>
            </a:r>
          </a:p>
          <a:p>
            <a:pPr>
              <a:spcBef>
                <a:spcPts val="1200"/>
              </a:spcBef>
            </a:pP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     (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deleteall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 atm (CDR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lst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)))</a:t>
            </a:r>
          </a:p>
          <a:p>
            <a:pPr>
              <a:spcBef>
                <a:spcPts val="1200"/>
              </a:spcBef>
            </a:pP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    (ELSE</a:t>
            </a:r>
          </a:p>
          <a:p>
            <a:pPr>
              <a:spcBef>
                <a:spcPts val="1200"/>
              </a:spcBef>
            </a:pP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     (CONS (CAR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lst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) (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deleteall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 atm (CDR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lst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))))</a:t>
            </a:r>
          </a:p>
          <a:p>
            <a:pPr>
              <a:spcBef>
                <a:spcPts val="1200"/>
              </a:spcBef>
            </a:pP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  )</a:t>
            </a:r>
          </a:p>
          <a:p>
            <a:pPr>
              <a:spcBef>
                <a:spcPts val="1200"/>
              </a:spcBef>
            </a:pP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Courier New" panose="02070309020205020404" pitchFamily="49" charset="0"/>
              </a:rPr>
              <a:t>)</a:t>
            </a:r>
          </a:p>
          <a:p>
            <a:pPr>
              <a:spcBef>
                <a:spcPts val="1200"/>
              </a:spcBef>
            </a:pPr>
            <a:endParaRPr lang="en-TR" sz="2000" b="1" dirty="0">
              <a:solidFill>
                <a:srgbClr val="FF0000"/>
              </a:solidFill>
              <a:effectLst/>
              <a:latin typeface="Courier New" panose="02070309020205020404" pitchFamily="49" charset="0"/>
              <a:ea typeface="MS Mincho" panose="02020609040205080304" pitchFamily="49" charset="-128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279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E86F2-CD1A-62B2-D521-795F220B0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AC8029-C8EA-00CA-DECE-6DFCE5CF522F}"/>
              </a:ext>
            </a:extLst>
          </p:cNvPr>
          <p:cNvSpPr txBox="1"/>
          <p:nvPr/>
        </p:nvSpPr>
        <p:spPr>
          <a:xfrm>
            <a:off x="539262" y="395340"/>
            <a:ext cx="11113476" cy="1191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Write a Scheme function that takes a list and an atom as parameters and returns a list identical to its parameter list except with all </a:t>
            </a:r>
            <a:r>
              <a:rPr lang="en-US" sz="24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all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-level instances of the given atom deleted.</a:t>
            </a:r>
            <a:r>
              <a:rPr lang="en-US" sz="24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endParaRPr lang="en-TR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200"/>
              </a:spcBef>
            </a:pPr>
            <a:r>
              <a:rPr lang="en-US" sz="24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TR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CD909D-B7E5-29D0-1980-EA7DD64E2F50}"/>
              </a:ext>
            </a:extLst>
          </p:cNvPr>
          <p:cNvSpPr txBox="1"/>
          <p:nvPr/>
        </p:nvSpPr>
        <p:spPr>
          <a:xfrm>
            <a:off x="679938" y="1990222"/>
            <a:ext cx="9835661" cy="335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(DEFINE (</a:t>
            </a:r>
            <a:r>
              <a:rPr lang="en-US" sz="20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deleteall</a:t>
            </a:r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atm </a:t>
            </a:r>
            <a:r>
              <a:rPr lang="en-US" sz="20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lst</a:t>
            </a:r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TR" sz="2000" b="1" dirty="0">
              <a:solidFill>
                <a:srgbClr val="FF0000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(COND</a:t>
            </a:r>
            <a:endParaRPr lang="en-TR" sz="2000" b="1" dirty="0">
              <a:solidFill>
                <a:srgbClr val="FF0000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((NULL? </a:t>
            </a:r>
            <a:r>
              <a:rPr lang="en-US" sz="20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lst</a:t>
            </a:r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'())</a:t>
            </a:r>
            <a:endParaRPr lang="en-TR" sz="2000" b="1" dirty="0">
              <a:solidFill>
                <a:srgbClr val="FF0000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((NOT (LIST? (CAR </a:t>
            </a:r>
            <a:r>
              <a:rPr lang="en-US" sz="20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lst</a:t>
            </a:r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)))</a:t>
            </a:r>
            <a:endParaRPr lang="en-TR" sz="2000" b="1" dirty="0">
              <a:solidFill>
                <a:srgbClr val="FF0000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(COND </a:t>
            </a:r>
            <a:endParaRPr lang="en-TR" sz="2000" b="1" dirty="0">
              <a:solidFill>
                <a:srgbClr val="FF0000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((EQ? atm (CAR </a:t>
            </a:r>
            <a:r>
              <a:rPr lang="en-US" sz="20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lst</a:t>
            </a:r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 (</a:t>
            </a:r>
            <a:r>
              <a:rPr lang="en-US" sz="20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deleteall</a:t>
            </a:r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atm (CDR </a:t>
            </a:r>
            <a:r>
              <a:rPr lang="en-US" sz="20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lst</a:t>
            </a:r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)))</a:t>
            </a:r>
            <a:endParaRPr lang="en-TR" sz="2000" b="1" dirty="0">
              <a:solidFill>
                <a:srgbClr val="FF0000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(ELSE (CONS (CAR </a:t>
            </a:r>
            <a:r>
              <a:rPr lang="en-US" sz="20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lst</a:t>
            </a:r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(</a:t>
            </a:r>
            <a:r>
              <a:rPr lang="en-US" sz="20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deleteall</a:t>
            </a:r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atm (CDR </a:t>
            </a:r>
            <a:r>
              <a:rPr lang="en-US" sz="20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lst</a:t>
            </a:r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))))</a:t>
            </a:r>
            <a:endParaRPr lang="en-TR" sz="2000" b="1" dirty="0">
              <a:solidFill>
                <a:srgbClr val="FF0000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))</a:t>
            </a:r>
            <a:endParaRPr lang="en-TR" sz="2000" b="1" dirty="0">
              <a:solidFill>
                <a:srgbClr val="FF0000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(ELSE (CONS (</a:t>
            </a:r>
            <a:r>
              <a:rPr lang="en-US" sz="20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deleteall</a:t>
            </a:r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atm (CAR </a:t>
            </a:r>
            <a:r>
              <a:rPr lang="en-US" sz="20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lst</a:t>
            </a:r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 </a:t>
            </a:r>
            <a:endParaRPr lang="en-TR" sz="2000" b="1" dirty="0">
              <a:solidFill>
                <a:srgbClr val="FF0000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              (</a:t>
            </a:r>
            <a:r>
              <a:rPr lang="en-US" sz="20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deleteall</a:t>
            </a:r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atm (CDR </a:t>
            </a:r>
            <a:r>
              <a:rPr lang="en-US" sz="20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lst</a:t>
            </a:r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))))</a:t>
            </a:r>
            <a:endParaRPr lang="en-TR" sz="2000" b="1" dirty="0">
              <a:solidFill>
                <a:srgbClr val="FF0000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it-IT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</a:t>
            </a:r>
            <a:endParaRPr lang="en-TR" sz="2000" b="1" dirty="0">
              <a:solidFill>
                <a:srgbClr val="FF0000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74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1C760-D108-DC89-B5EA-B56CEF652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291" y="365125"/>
            <a:ext cx="11687909" cy="5832109"/>
          </a:xfrm>
        </p:spPr>
        <p:txBody>
          <a:bodyPr>
            <a:normAutofit/>
          </a:bodyPr>
          <a:lstStyle/>
          <a:p>
            <a:pPr mar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dirty="0">
                <a:solidFill>
                  <a:srgbClr val="222222"/>
                </a:solidFill>
                <a:effectLst/>
                <a:latin typeface="Book Antiqua" panose="02040602050305030304" pitchFamily="18" charset="0"/>
              </a:rPr>
              <a:t>Write a Scheme function called funcQ2 which is an extension of the </a:t>
            </a:r>
            <a:r>
              <a:rPr lang="en-US" sz="2000" b="0" i="0" u="none" strike="noStrike" dirty="0">
                <a:solidFill>
                  <a:srgbClr val="222222"/>
                </a:solidFill>
                <a:effectLst/>
                <a:latin typeface="Courier New" panose="02070309020205020404" pitchFamily="49" charset="0"/>
              </a:rPr>
              <a:t>map</a:t>
            </a:r>
            <a:r>
              <a:rPr lang="en-US" sz="2000" b="0" i="0" u="none" strike="noStrike" dirty="0">
                <a:solidFill>
                  <a:srgbClr val="222222"/>
                </a:solidFill>
                <a:effectLst/>
                <a:latin typeface="Book Antiqua" panose="02040602050305030304" pitchFamily="18" charset="0"/>
              </a:rPr>
              <a:t> function in Scheme. Basically, this new function will take three parameters: first parameter is the list of operations, the second and third parameters are lists of numbers. It will apply each operator to each  of the corresponding elements of the lists. </a:t>
            </a:r>
            <a:endParaRPr lang="en-US" sz="3200" b="0" dirty="0">
              <a:effectLst/>
            </a:endParaRPr>
          </a:p>
          <a:p>
            <a:pPr marL="0" indent="0" algn="just">
              <a:spcBef>
                <a:spcPts val="0"/>
              </a:spcBef>
              <a:buNone/>
            </a:pPr>
            <a:br>
              <a:rPr lang="en-US" sz="3200" b="0" dirty="0">
                <a:effectLst/>
              </a:rPr>
            </a:br>
            <a:endParaRPr lang="en-US" sz="3200" b="0" dirty="0">
              <a:effectLst/>
            </a:endParaRPr>
          </a:p>
          <a:p>
            <a:pPr mar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dirty="0">
                <a:solidFill>
                  <a:srgbClr val="BB4411"/>
                </a:solidFill>
                <a:effectLst/>
                <a:latin typeface="Courier New" panose="02070309020205020404" pitchFamily="49" charset="0"/>
              </a:rPr>
              <a:t>&gt;(funcQ2 '(&gt; &lt;) '(1 2 3 4) '(2 3 4 5))</a:t>
            </a:r>
            <a:endParaRPr lang="en-US" sz="3200" b="0" dirty="0">
              <a:effectLst/>
            </a:endParaRPr>
          </a:p>
          <a:p>
            <a:pPr mar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dirty="0">
                <a:solidFill>
                  <a:srgbClr val="44AA11"/>
                </a:solidFill>
                <a:effectLst/>
                <a:latin typeface="Courier New" panose="02070309020205020404" pitchFamily="49" charset="0"/>
              </a:rPr>
              <a:t>=&gt; ((#f #f #f #f) (#t #t #t #t))</a:t>
            </a:r>
            <a:endParaRPr lang="en-US" sz="3200" b="0" dirty="0">
              <a:effectLst/>
            </a:endParaRPr>
          </a:p>
          <a:p>
            <a:pPr mar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dirty="0">
                <a:solidFill>
                  <a:srgbClr val="BB4411"/>
                </a:solidFill>
                <a:effectLst/>
                <a:latin typeface="Courier New" panose="02070309020205020404" pitchFamily="49" charset="0"/>
              </a:rPr>
              <a:t>&gt;(funcQ2 '(&gt; &lt; -) '(1 2 3 4) '(2 3 4 5))</a:t>
            </a:r>
            <a:endParaRPr lang="en-US" sz="3200" b="0" dirty="0">
              <a:effectLst/>
            </a:endParaRPr>
          </a:p>
          <a:p>
            <a:pPr mar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dirty="0">
                <a:solidFill>
                  <a:srgbClr val="44AA11"/>
                </a:solidFill>
                <a:effectLst/>
                <a:latin typeface="Courier New" panose="02070309020205020404" pitchFamily="49" charset="0"/>
              </a:rPr>
              <a:t>=&gt;  ((#f #f #f #f) (#t #t #t #t) (-1 -1 -1 -1))</a:t>
            </a:r>
            <a:endParaRPr lang="en-US" sz="3200" b="0" dirty="0">
              <a:effectLst/>
            </a:endParaRPr>
          </a:p>
          <a:p>
            <a:pPr mar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dirty="0">
                <a:solidFill>
                  <a:srgbClr val="BB4411"/>
                </a:solidFill>
                <a:effectLst/>
                <a:latin typeface="Courier New" panose="02070309020205020404" pitchFamily="49" charset="0"/>
              </a:rPr>
              <a:t>&gt;(funcQ2 '(+ - * /) '(3 4) '(1 5))</a:t>
            </a:r>
            <a:endParaRPr lang="en-US" sz="3200" b="0" dirty="0">
              <a:effectLst/>
            </a:endParaRPr>
          </a:p>
          <a:p>
            <a:pPr mar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dirty="0">
                <a:solidFill>
                  <a:srgbClr val="44AA11"/>
                </a:solidFill>
                <a:effectLst/>
                <a:latin typeface="Courier New" panose="02070309020205020404" pitchFamily="49" charset="0"/>
              </a:rPr>
              <a:t>=&gt; ((4 9) (2 -1) (3 20) (3 0.8))</a:t>
            </a:r>
            <a:endParaRPr lang="en-US" sz="3200" b="0" dirty="0">
              <a:effectLst/>
            </a:endParaRPr>
          </a:p>
          <a:p>
            <a:pPr mar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dirty="0">
                <a:solidFill>
                  <a:srgbClr val="BB4411"/>
                </a:solidFill>
                <a:effectLst/>
                <a:latin typeface="Courier New" panose="02070309020205020404" pitchFamily="49" charset="0"/>
              </a:rPr>
              <a:t>&gt;(funcQ2 '() '(3 4) '(1 5))</a:t>
            </a:r>
            <a:endParaRPr lang="en-US" sz="3200" b="0" dirty="0">
              <a:effectLst/>
            </a:endParaRPr>
          </a:p>
          <a:p>
            <a:pPr mar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dirty="0">
                <a:solidFill>
                  <a:srgbClr val="44AA11"/>
                </a:solidFill>
                <a:effectLst/>
                <a:latin typeface="Courier New" panose="02070309020205020404" pitchFamily="49" charset="0"/>
              </a:rPr>
              <a:t>=&gt; ()</a:t>
            </a:r>
            <a:endParaRPr lang="en-US" sz="3200" b="0" dirty="0">
              <a:effectLst/>
            </a:endParaRPr>
          </a:p>
          <a:p>
            <a:pPr marL="0" indent="0">
              <a:buNone/>
            </a:pPr>
            <a:br>
              <a:rPr lang="en-US" sz="3200" dirty="0"/>
            </a:b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A0531-12EE-3024-9ADE-741245096BA5}"/>
              </a:ext>
            </a:extLst>
          </p:cNvPr>
          <p:cNvSpPr txBox="1"/>
          <p:nvPr/>
        </p:nvSpPr>
        <p:spPr>
          <a:xfrm>
            <a:off x="5627077" y="3738379"/>
            <a:ext cx="656492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(define (funcQ2 </a:t>
            </a:r>
            <a:r>
              <a:rPr lang="en-US" sz="1800" b="1" i="0" u="none" strike="noStrike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oplist</a:t>
            </a: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list1 list2)</a:t>
            </a:r>
            <a:endParaRPr lang="en-US" b="0" dirty="0">
              <a:effectLst/>
            </a:endParaRP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b="1" i="0" u="none" strike="noStrike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cond</a:t>
            </a:r>
            <a:endParaRPr lang="en-US" b="0" dirty="0">
              <a:effectLst/>
            </a:endParaRP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 ((null? </a:t>
            </a:r>
            <a:r>
              <a:rPr lang="en-US" sz="1800" b="1" i="0" u="none" strike="noStrike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oplist</a:t>
            </a: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) '())</a:t>
            </a:r>
            <a:endParaRPr lang="en-US" b="0" dirty="0">
              <a:effectLst/>
            </a:endParaRP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 ((null? list1) '())</a:t>
            </a:r>
            <a:endParaRPr lang="en-US" b="0" dirty="0">
              <a:effectLst/>
            </a:endParaRP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 ((null? list2) '())</a:t>
            </a:r>
            <a:endParaRPr lang="en-US" b="0" dirty="0">
              <a:effectLst/>
            </a:endParaRP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(else</a:t>
            </a:r>
            <a:endParaRPr lang="en-US" b="0" dirty="0">
              <a:effectLst/>
            </a:endParaRP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  (cons  (map (eval (car </a:t>
            </a:r>
            <a:r>
              <a:rPr lang="en-US" sz="1800" b="1" i="0" u="none" strike="noStrike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oplist</a:t>
            </a: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)) list1 list2) (funcQ2 (</a:t>
            </a:r>
            <a:r>
              <a:rPr lang="en-US" sz="1800" b="1" i="0" u="none" strike="noStrike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cdr</a:t>
            </a: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i="0" u="none" strike="noStrike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oplist</a:t>
            </a: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) list1 list2))</a:t>
            </a:r>
            <a:endParaRPr lang="en-US" b="0" dirty="0">
              <a:effectLst/>
            </a:endParaRP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))</a:t>
            </a:r>
            <a:endParaRPr lang="en-US" b="0" dirty="0">
              <a:effectLst/>
            </a:endParaRP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222222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359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C7950-68B3-B48F-C0C7-4B48DA66C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37309"/>
            <a:ext cx="11998036" cy="5539654"/>
          </a:xfrm>
        </p:spPr>
        <p:txBody>
          <a:bodyPr>
            <a:normAutofit/>
          </a:bodyPr>
          <a:lstStyle/>
          <a:p>
            <a:pPr mar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 the following Scheme code, the aim is the construct the list (2 4 6 ... 2N) recursively for an input N. For example, for N=5, the output should be (2 4 6 8 10). Please fill in the blanks to complete the code.</a:t>
            </a:r>
            <a:endParaRPr lang="en-US" sz="3600" b="0" dirty="0">
              <a:effectLst/>
            </a:endParaRPr>
          </a:p>
          <a:p>
            <a:pPr indent="0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600" b="0" dirty="0">
                <a:effectLst/>
              </a:rPr>
            </a:b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(define (Sequence N)</a:t>
            </a:r>
            <a:endParaRPr lang="en-US" sz="3600" b="0" dirty="0">
              <a:effectLst/>
            </a:endParaRPr>
          </a:p>
          <a:p>
            <a:pPr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(if (= N 1) _______</a:t>
            </a:r>
            <a:r>
              <a:rPr lang="en-US" sz="2400" b="1" i="0" u="none" strike="noStrike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’(2)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_________________</a:t>
            </a:r>
            <a:endParaRPr lang="en-US" sz="3600" b="0" dirty="0">
              <a:effectLst/>
            </a:endParaRPr>
          </a:p>
          <a:p>
            <a:pPr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 (__</a:t>
            </a:r>
            <a:r>
              <a:rPr lang="en-US" sz="2400" b="1" i="0" u="none" strike="noStrike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append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__________________________ (Sequence (- N 1)) </a:t>
            </a:r>
            <a:endParaRPr lang="en-US" sz="3600" b="0" dirty="0">
              <a:effectLst/>
            </a:endParaRPr>
          </a:p>
          <a:p>
            <a:pPr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 (list (_</a:t>
            </a:r>
            <a:r>
              <a:rPr lang="en-US" sz="2400" b="1" i="0" u="none" strike="noStrike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* 2 N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_________________________)))))</a:t>
            </a:r>
            <a:endParaRPr lang="en-US" sz="3600" b="0" dirty="0">
              <a:effectLst/>
            </a:endParaRPr>
          </a:p>
          <a:p>
            <a:pPr marL="0" indent="0">
              <a:buNone/>
            </a:pPr>
            <a:br>
              <a:rPr lang="en-US" sz="3600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826971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91BF84-9B3A-CFA8-059E-D0CCD5599B63}"/>
              </a:ext>
            </a:extLst>
          </p:cNvPr>
          <p:cNvSpPr txBox="1"/>
          <p:nvPr/>
        </p:nvSpPr>
        <p:spPr>
          <a:xfrm>
            <a:off x="281353" y="197346"/>
            <a:ext cx="1164101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1A1A1A"/>
                </a:solidFill>
                <a:effectLst/>
                <a:latin typeface="Georgia" panose="02040502050405020303" pitchFamily="18" charset="0"/>
                <a:ea typeface="MS Mincho" panose="02020609040205080304" pitchFamily="49" charset="-128"/>
                <a:cs typeface="Georgia" panose="02040502050405020303" pitchFamily="18" charset="0"/>
              </a:rPr>
              <a:t>1- Consider the following program </a:t>
            </a:r>
            <a:r>
              <a:rPr lang="en-US" sz="1800" dirty="0" err="1">
                <a:solidFill>
                  <a:srgbClr val="1A1A1A"/>
                </a:solidFill>
                <a:effectLst/>
                <a:latin typeface="Georgia" panose="02040502050405020303" pitchFamily="18" charset="0"/>
                <a:ea typeface="MS Mincho" panose="02020609040205080304" pitchFamily="49" charset="-128"/>
                <a:cs typeface="Georgia" panose="02040502050405020303" pitchFamily="18" charset="0"/>
              </a:rPr>
              <a:t>writen</a:t>
            </a:r>
            <a:r>
              <a:rPr lang="en-US" sz="1800" dirty="0">
                <a:solidFill>
                  <a:srgbClr val="1A1A1A"/>
                </a:solidFill>
                <a:effectLst/>
                <a:latin typeface="Georgia" panose="02040502050405020303" pitchFamily="18" charset="0"/>
                <a:ea typeface="MS Mincho" panose="02020609040205080304" pitchFamily="49" charset="-128"/>
                <a:cs typeface="Georgia" panose="02040502050405020303" pitchFamily="18" charset="0"/>
              </a:rPr>
              <a:t> in C syntax:</a:t>
            </a:r>
            <a:endParaRPr lang="en-TR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A1A1A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Georgia" panose="02040502050405020303" pitchFamily="18" charset="0"/>
              </a:rPr>
              <a:t>void swap(int a, int b){</a:t>
            </a:r>
            <a:endParaRPr lang="en-TR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A1A1A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Georgia" panose="02040502050405020303" pitchFamily="18" charset="0"/>
              </a:rPr>
              <a:t>  int temp;</a:t>
            </a:r>
            <a:endParaRPr lang="en-TR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A1A1A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Georgia" panose="02040502050405020303" pitchFamily="18" charset="0"/>
              </a:rPr>
              <a:t>  temp = a;</a:t>
            </a:r>
            <a:endParaRPr lang="en-TR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A1A1A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Georgia" panose="02040502050405020303" pitchFamily="18" charset="0"/>
              </a:rPr>
              <a:t>  a = b;</a:t>
            </a:r>
            <a:endParaRPr lang="en-TR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A1A1A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Georgia" panose="02040502050405020303" pitchFamily="18" charset="0"/>
              </a:rPr>
              <a:t>  b = temp;</a:t>
            </a:r>
            <a:endParaRPr lang="en-TR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A1A1A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Georgia" panose="02040502050405020303" pitchFamily="18" charset="0"/>
              </a:rPr>
              <a:t>}</a:t>
            </a:r>
            <a:endParaRPr lang="en-TR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A1A1A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Georgia" panose="02040502050405020303" pitchFamily="18" charset="0"/>
              </a:rPr>
              <a:t>void main() {</a:t>
            </a:r>
            <a:endParaRPr lang="en-TR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A1A1A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Georgia" panose="02040502050405020303" pitchFamily="18" charset="0"/>
              </a:rPr>
              <a:t>  int value = 1, list[5] = {2, 4, 6, 8, 10};</a:t>
            </a:r>
            <a:endParaRPr lang="en-TR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A1A1A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Georgia" panose="02040502050405020303" pitchFamily="18" charset="0"/>
              </a:rPr>
              <a:t>  swap(value, list[0]);</a:t>
            </a:r>
            <a:endParaRPr lang="en-TR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A1A1A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Georgia" panose="02040502050405020303" pitchFamily="18" charset="0"/>
              </a:rPr>
              <a:t>  swap(list[0], list [1]);</a:t>
            </a:r>
            <a:endParaRPr lang="en-TR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A1A1A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Georgia" panose="02040502050405020303" pitchFamily="18" charset="0"/>
              </a:rPr>
              <a:t>  swap(value, list[value]);</a:t>
            </a:r>
            <a:endParaRPr lang="en-TR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A1A1A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Georgia" panose="02040502050405020303" pitchFamily="18" charset="0"/>
              </a:rPr>
              <a:t>}</a:t>
            </a:r>
            <a:endParaRPr lang="en-TR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A1A1A"/>
                </a:solidFill>
                <a:effectLst/>
                <a:latin typeface="Georgia" panose="02040502050405020303" pitchFamily="18" charset="0"/>
                <a:ea typeface="MS Mincho" panose="02020609040205080304" pitchFamily="49" charset="-128"/>
                <a:cs typeface="Georgia" panose="02040502050405020303" pitchFamily="18" charset="0"/>
              </a:rPr>
              <a:t> </a:t>
            </a:r>
            <a:endParaRPr lang="en-TR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A1A1A"/>
                </a:solidFill>
                <a:effectLst/>
                <a:latin typeface="Georgia" panose="02040502050405020303" pitchFamily="18" charset="0"/>
                <a:ea typeface="MS Mincho" panose="02020609040205080304" pitchFamily="49" charset="-128"/>
                <a:cs typeface="Georgia" panose="02040502050405020303" pitchFamily="18" charset="0"/>
              </a:rPr>
              <a:t>For each of the following parameter-passing methods, what are all of the values of the variables value and list after each of the three calls to swap ?</a:t>
            </a:r>
            <a:endParaRPr lang="en-TR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A1A1A"/>
                </a:solidFill>
                <a:effectLst/>
                <a:latin typeface="Georgia" panose="02040502050405020303" pitchFamily="18" charset="0"/>
                <a:ea typeface="MS Mincho" panose="02020609040205080304" pitchFamily="49" charset="-128"/>
                <a:cs typeface="Georgia" panose="02040502050405020303" pitchFamily="18" charset="0"/>
              </a:rPr>
              <a:t>a. Passed by Value</a:t>
            </a:r>
            <a:endParaRPr lang="en-TR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FF0000"/>
                </a:solidFill>
                <a:effectLst/>
                <a:latin typeface="Georgia" panose="02040502050405020303" pitchFamily="18" charset="0"/>
                <a:ea typeface="MS Mincho" panose="02020609040205080304" pitchFamily="49" charset="-128"/>
                <a:cs typeface="Georgia" panose="02040502050405020303" pitchFamily="18" charset="0"/>
              </a:rPr>
              <a:t>value =1 , list = {2,4,6,8,10}</a:t>
            </a:r>
            <a:endParaRPr lang="en-TR" sz="1800" dirty="0">
              <a:solidFill>
                <a:srgbClr val="FF0000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A1A1A"/>
                </a:solidFill>
                <a:effectLst/>
                <a:latin typeface="Georgia" panose="02040502050405020303" pitchFamily="18" charset="0"/>
                <a:ea typeface="MS Mincho" panose="02020609040205080304" pitchFamily="49" charset="-128"/>
                <a:cs typeface="Georgia" panose="02040502050405020303" pitchFamily="18" charset="0"/>
              </a:rPr>
              <a:t>b. Passed by reference</a:t>
            </a:r>
            <a:endParaRPr lang="en-TR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FF0000"/>
                </a:solidFill>
                <a:effectLst/>
                <a:latin typeface="Georgia" panose="02040502050405020303" pitchFamily="18" charset="0"/>
                <a:ea typeface="MS Mincho" panose="02020609040205080304" pitchFamily="49" charset="-128"/>
                <a:cs typeface="Georgia" panose="02040502050405020303" pitchFamily="18" charset="0"/>
              </a:rPr>
              <a:t>value =6, list ={4,1,2,8,10}</a:t>
            </a:r>
            <a:endParaRPr lang="en-TR" sz="1800" dirty="0">
              <a:solidFill>
                <a:srgbClr val="FF0000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A1A1A"/>
                </a:solidFill>
                <a:effectLst/>
                <a:latin typeface="Georgia" panose="02040502050405020303" pitchFamily="18" charset="0"/>
                <a:ea typeface="MS Mincho" panose="02020609040205080304" pitchFamily="49" charset="-128"/>
                <a:cs typeface="Georgia" panose="02040502050405020303" pitchFamily="18" charset="0"/>
              </a:rPr>
              <a:t>c. Passed by value-result</a:t>
            </a:r>
            <a:endParaRPr lang="en-TR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FF0000"/>
                </a:solidFill>
                <a:effectLst/>
                <a:latin typeface="Georgia" panose="02040502050405020303" pitchFamily="18" charset="0"/>
                <a:ea typeface="MS Mincho" panose="02020609040205080304" pitchFamily="49" charset="-128"/>
                <a:cs typeface="Georgia" panose="02040502050405020303" pitchFamily="18" charset="0"/>
              </a:rPr>
              <a:t>value =6, list ={4,1,2,8,10}</a:t>
            </a:r>
            <a:r>
              <a:rPr lang="en-TR" dirty="0">
                <a:effectLst/>
              </a:rPr>
              <a:t> 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496050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29F697A-EEA1-6BD3-B3E6-D457B9CAC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520" y="86947"/>
            <a:ext cx="9315450" cy="52093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DCC1D0-57E2-2D20-CB4F-C4DA07E706C0}"/>
              </a:ext>
            </a:extLst>
          </p:cNvPr>
          <p:cNvSpPr txBox="1"/>
          <p:nvPr/>
        </p:nvSpPr>
        <p:spPr>
          <a:xfrm>
            <a:off x="497172" y="5296319"/>
            <a:ext cx="1481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b="1" dirty="0">
                <a:solidFill>
                  <a:srgbClr val="FF0000"/>
                </a:solidFill>
              </a:rPr>
              <a:t>Pass-by-value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AA15AE-D26C-AF41-A908-6CDAFB0E572E}"/>
              </a:ext>
            </a:extLst>
          </p:cNvPr>
          <p:cNvSpPr txBox="1"/>
          <p:nvPr/>
        </p:nvSpPr>
        <p:spPr>
          <a:xfrm>
            <a:off x="1237759" y="58905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R" sz="1800" b="1" dirty="0">
                <a:solidFill>
                  <a:srgbClr val="FF0000"/>
                </a:solidFill>
                <a:effectLst/>
                <a:latin typeface="BookAntiqua"/>
              </a:rPr>
              <a:t>3 4 5 6 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313661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8B054-2F95-4D2C-37E0-4971EE106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131EF78-CBA9-D157-2025-D21D16AD6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520" y="86947"/>
            <a:ext cx="9315450" cy="52093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1FD0B7-F350-DCCD-F91B-A9ACEFBC6257}"/>
              </a:ext>
            </a:extLst>
          </p:cNvPr>
          <p:cNvSpPr txBox="1"/>
          <p:nvPr/>
        </p:nvSpPr>
        <p:spPr>
          <a:xfrm>
            <a:off x="550985" y="5347853"/>
            <a:ext cx="565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b="1" dirty="0">
                <a:solidFill>
                  <a:srgbClr val="FF0000"/>
                </a:solidFill>
              </a:rPr>
              <a:t>Pass-by-value-result </a:t>
            </a:r>
            <a:r>
              <a:rPr lang="en-US" sz="1800" b="1" dirty="0">
                <a:solidFill>
                  <a:srgbClr val="FF0000"/>
                </a:solidFill>
                <a:effectLst/>
                <a:latin typeface="BookAntiqua"/>
              </a:rPr>
              <a:t>(address is taken during return time)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F391AC-BE38-335A-C5E6-7DB10FF4464F}"/>
              </a:ext>
            </a:extLst>
          </p:cNvPr>
          <p:cNvSpPr txBox="1"/>
          <p:nvPr/>
        </p:nvSpPr>
        <p:spPr>
          <a:xfrm>
            <a:off x="930520" y="584772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effectLst/>
                <a:latin typeface="BookAntiqua"/>
              </a:rPr>
              <a:t>3 4 9 8</a:t>
            </a:r>
            <a:br>
              <a:rPr lang="en-US" sz="1800" b="1" dirty="0">
                <a:solidFill>
                  <a:srgbClr val="FF0000"/>
                </a:solidFill>
                <a:effectLst/>
                <a:latin typeface="BookAntiqua"/>
              </a:rPr>
            </a:br>
            <a:r>
              <a:rPr lang="en-US" sz="1800" b="1" dirty="0">
                <a:solidFill>
                  <a:srgbClr val="FF0000"/>
                </a:solidFill>
                <a:effectLst/>
                <a:latin typeface="BookAntiqua"/>
              </a:rPr>
              <a:t>if address is taken during call time </a:t>
            </a:r>
            <a:br>
              <a:rPr lang="en-US" sz="1800" b="1" dirty="0">
                <a:solidFill>
                  <a:srgbClr val="FF0000"/>
                </a:solidFill>
                <a:effectLst/>
                <a:latin typeface="BookAntiqua"/>
              </a:rPr>
            </a:br>
            <a:r>
              <a:rPr lang="en-US" sz="1800" b="1" dirty="0">
                <a:solidFill>
                  <a:srgbClr val="FF0000"/>
                </a:solidFill>
                <a:effectLst/>
                <a:latin typeface="BookAntiqua"/>
              </a:rPr>
              <a:t>9 8 5 6</a:t>
            </a:r>
            <a:br>
              <a:rPr lang="en-US" sz="1800" b="1" dirty="0">
                <a:solidFill>
                  <a:srgbClr val="FF0000"/>
                </a:solidFill>
                <a:effectLst/>
                <a:latin typeface="BookAntiqua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172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BA60F-DC14-99D7-93DF-E52B13E39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878190E-71BD-D991-75B8-A4C3E4637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520" y="86947"/>
            <a:ext cx="9315450" cy="52093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43377E-BB99-87B4-564C-FFB4B252A776}"/>
              </a:ext>
            </a:extLst>
          </p:cNvPr>
          <p:cNvSpPr txBox="1"/>
          <p:nvPr/>
        </p:nvSpPr>
        <p:spPr>
          <a:xfrm>
            <a:off x="550985" y="5486400"/>
            <a:ext cx="1929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b="1" dirty="0">
                <a:solidFill>
                  <a:srgbClr val="FF0000"/>
                </a:solidFill>
              </a:rPr>
              <a:t>Pass-by-reference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698B65-D069-14AD-CCE2-FAEDF61B77D5}"/>
              </a:ext>
            </a:extLst>
          </p:cNvPr>
          <p:cNvSpPr txBox="1"/>
          <p:nvPr/>
        </p:nvSpPr>
        <p:spPr>
          <a:xfrm>
            <a:off x="930520" y="60458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R" sz="1800" b="1" dirty="0">
                <a:solidFill>
                  <a:srgbClr val="FF0000"/>
                </a:solidFill>
                <a:effectLst/>
                <a:latin typeface="BookAntiqua"/>
              </a:rPr>
              <a:t>9 8 5 6 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259594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B52E1-DC2D-88DE-A88E-EA182C05F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0887666-F713-6FEF-7C3D-254BFCD2C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520" y="86947"/>
            <a:ext cx="9315450" cy="52093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938D66-3F64-1A9E-EDC4-517F655F4C99}"/>
              </a:ext>
            </a:extLst>
          </p:cNvPr>
          <p:cNvSpPr txBox="1"/>
          <p:nvPr/>
        </p:nvSpPr>
        <p:spPr>
          <a:xfrm>
            <a:off x="550985" y="5486400"/>
            <a:ext cx="1508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b="1" dirty="0">
                <a:solidFill>
                  <a:srgbClr val="FF0000"/>
                </a:solidFill>
              </a:rPr>
              <a:t>Pass-by-name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5BB75E-A239-D231-A8A0-BE99B8FC2647}"/>
              </a:ext>
            </a:extLst>
          </p:cNvPr>
          <p:cNvSpPr txBox="1"/>
          <p:nvPr/>
        </p:nvSpPr>
        <p:spPr>
          <a:xfrm>
            <a:off x="1066800" y="60458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R" sz="1800" b="1" dirty="0">
                <a:solidFill>
                  <a:srgbClr val="FF0000"/>
                </a:solidFill>
                <a:effectLst/>
                <a:latin typeface="BookAntiqua"/>
              </a:rPr>
              <a:t>1 8 11 6 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867526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CB8AC8-A214-B45E-3A14-03D95087C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93185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4D2E49-C788-FB5C-018D-0BCC9976D768}"/>
              </a:ext>
            </a:extLst>
          </p:cNvPr>
          <p:cNvSpPr txBox="1"/>
          <p:nvPr/>
        </p:nvSpPr>
        <p:spPr>
          <a:xfrm>
            <a:off x="6077815" y="584308"/>
            <a:ext cx="6096000" cy="120032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BookAntiqua"/>
              </a:rPr>
              <a:t>1- What will be the output if </a:t>
            </a:r>
            <a:r>
              <a:rPr lang="en-US" sz="2400" i="1" dirty="0">
                <a:effectLst/>
                <a:latin typeface="BookAntiqua"/>
              </a:rPr>
              <a:t>ad hoc binding </a:t>
            </a:r>
            <a:r>
              <a:rPr lang="en-US" sz="2400" dirty="0">
                <a:effectLst/>
                <a:latin typeface="BookAntiqua"/>
              </a:rPr>
              <a:t>is used, assuming that the language is </a:t>
            </a:r>
            <a:r>
              <a:rPr lang="en-US" sz="2400" i="1" dirty="0">
                <a:effectLst/>
                <a:latin typeface="BookAntiqua"/>
              </a:rPr>
              <a:t>statically scoped</a:t>
            </a:r>
            <a:r>
              <a:rPr lang="en-US" sz="2400" dirty="0">
                <a:effectLst/>
                <a:latin typeface="BookAntiqua"/>
              </a:rPr>
              <a:t>? 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57F593-D223-FC39-28CA-85B4C4F5E599}"/>
              </a:ext>
            </a:extLst>
          </p:cNvPr>
          <p:cNvSpPr txBox="1"/>
          <p:nvPr/>
        </p:nvSpPr>
        <p:spPr>
          <a:xfrm>
            <a:off x="6077814" y="2080736"/>
            <a:ext cx="5708073" cy="193899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BookAntiqua"/>
              </a:rPr>
              <a:t>Hint: Ad hoc binding takes the referencing environment where the subprogram is passed. </a:t>
            </a:r>
          </a:p>
          <a:p>
            <a:endParaRPr lang="en-US" sz="2400" dirty="0">
              <a:latin typeface="BookAntiqua"/>
            </a:endParaRPr>
          </a:p>
          <a:p>
            <a:endParaRPr lang="en-US" sz="2400" dirty="0">
              <a:effectLst/>
              <a:latin typeface="BookAntiqu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02D34F-E4C4-3131-9A5A-1F6C330D7F01}"/>
              </a:ext>
            </a:extLst>
          </p:cNvPr>
          <p:cNvSpPr txBox="1"/>
          <p:nvPr/>
        </p:nvSpPr>
        <p:spPr>
          <a:xfrm>
            <a:off x="6096000" y="4473199"/>
            <a:ext cx="6151418" cy="156966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BookAntiqua"/>
              </a:rPr>
              <a:t>So, x = 8, y = 5 initially </a:t>
            </a:r>
            <a:endParaRPr lang="en-US" sz="2400" dirty="0"/>
          </a:p>
          <a:p>
            <a:r>
              <a:rPr lang="en-US" sz="2400" dirty="0">
                <a:effectLst/>
                <a:latin typeface="BookAntiqua"/>
              </a:rPr>
              <a:t>After calling D inside C, a = 40</a:t>
            </a:r>
            <a:br>
              <a:rPr lang="en-US" sz="2400" dirty="0">
                <a:effectLst/>
                <a:latin typeface="BookAntiqua"/>
              </a:rPr>
            </a:br>
            <a:r>
              <a:rPr lang="en-US" sz="2400" dirty="0">
                <a:effectLst/>
                <a:latin typeface="BookAntiqua"/>
              </a:rPr>
              <a:t>b=0 </a:t>
            </a:r>
            <a:endParaRPr lang="en-US" sz="2400" dirty="0"/>
          </a:p>
          <a:p>
            <a:r>
              <a:rPr lang="en-US" sz="2400" b="1" dirty="0">
                <a:solidFill>
                  <a:srgbClr val="FF0000"/>
                </a:solidFill>
                <a:effectLst/>
                <a:latin typeface="BookAntiqua"/>
              </a:rPr>
              <a:t>output: 40 0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85816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8F34A-7544-36A6-4259-43224AB27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1FE599-4CE0-94F1-E776-D645EA31B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93185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1C5403-F99B-F6BE-9A46-1B03E2E449C0}"/>
              </a:ext>
            </a:extLst>
          </p:cNvPr>
          <p:cNvSpPr txBox="1"/>
          <p:nvPr/>
        </p:nvSpPr>
        <p:spPr>
          <a:xfrm>
            <a:off x="6077815" y="584308"/>
            <a:ext cx="6096000" cy="120032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BookAntiqua"/>
              </a:rPr>
              <a:t>2- What will be the output if </a:t>
            </a:r>
            <a:r>
              <a:rPr lang="en-US" sz="2400" i="1" dirty="0">
                <a:effectLst/>
                <a:latin typeface="BookAntiqua"/>
              </a:rPr>
              <a:t>shallow binding </a:t>
            </a:r>
            <a:r>
              <a:rPr lang="en-US" sz="2400" dirty="0">
                <a:effectLst/>
                <a:latin typeface="BookAntiqua"/>
              </a:rPr>
              <a:t>is used, assuming language is </a:t>
            </a:r>
            <a:r>
              <a:rPr lang="en-US" sz="2400" i="1" dirty="0">
                <a:effectLst/>
                <a:latin typeface="BookAntiqua"/>
              </a:rPr>
              <a:t>dynamically scoped</a:t>
            </a:r>
            <a:r>
              <a:rPr lang="en-US" sz="2400" dirty="0">
                <a:effectLst/>
                <a:latin typeface="BookAntiqua"/>
              </a:rPr>
              <a:t>? 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4DB289-FA7F-DA0C-0D2F-D149D6D6AEFC}"/>
              </a:ext>
            </a:extLst>
          </p:cNvPr>
          <p:cNvSpPr txBox="1"/>
          <p:nvPr/>
        </p:nvSpPr>
        <p:spPr>
          <a:xfrm>
            <a:off x="6077814" y="2080736"/>
            <a:ext cx="5708073" cy="193899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BookAntiqua"/>
              </a:rPr>
              <a:t>Hint: Shallow binding takes the referencing environment where the subprogram is called in. </a:t>
            </a:r>
          </a:p>
          <a:p>
            <a:endParaRPr lang="en-US" sz="2400" dirty="0">
              <a:latin typeface="BookAntiqua"/>
            </a:endParaRPr>
          </a:p>
          <a:p>
            <a:endParaRPr lang="en-US" sz="2400" dirty="0">
              <a:effectLst/>
              <a:latin typeface="BookAntiqu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258756-BD39-896B-0BF6-D7CBB4F77A8F}"/>
              </a:ext>
            </a:extLst>
          </p:cNvPr>
          <p:cNvSpPr txBox="1"/>
          <p:nvPr/>
        </p:nvSpPr>
        <p:spPr>
          <a:xfrm>
            <a:off x="6096000" y="4473199"/>
            <a:ext cx="6151418" cy="156966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sz="2400" dirty="0"/>
              <a:t>So, x = 10, y = 20 initially </a:t>
            </a:r>
            <a:endParaRPr lang="en-US" sz="3200" dirty="0"/>
          </a:p>
          <a:p>
            <a:r>
              <a:rPr lang="en-US" sz="2400" dirty="0"/>
              <a:t>After calling D inside C, a = 200</a:t>
            </a:r>
            <a:br>
              <a:rPr lang="en-US" sz="2400" dirty="0"/>
            </a:br>
            <a:r>
              <a:rPr lang="en-US" sz="2400" dirty="0"/>
              <a:t>b = 15 </a:t>
            </a:r>
            <a:endParaRPr lang="en-US" sz="3200" dirty="0"/>
          </a:p>
          <a:p>
            <a:r>
              <a:rPr lang="en-US" sz="2400" b="1" dirty="0">
                <a:solidFill>
                  <a:srgbClr val="FF0000"/>
                </a:solidFill>
              </a:rPr>
              <a:t>output: 200 15 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871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89D8A-A815-768E-E379-04B8F5414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FC1324-3F18-13A6-0DF6-9EC6861FE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93185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D274D2-3EA2-D004-E202-FECCAFDD78AE}"/>
              </a:ext>
            </a:extLst>
          </p:cNvPr>
          <p:cNvSpPr txBox="1"/>
          <p:nvPr/>
        </p:nvSpPr>
        <p:spPr>
          <a:xfrm>
            <a:off x="6077815" y="584308"/>
            <a:ext cx="6096000" cy="120032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BookAntiqua"/>
              </a:rPr>
              <a:t>3</a:t>
            </a:r>
            <a:r>
              <a:rPr lang="en-US" sz="2400" dirty="0">
                <a:effectLst/>
                <a:latin typeface="BookAntiqua"/>
              </a:rPr>
              <a:t>- What will be the output </a:t>
            </a:r>
            <a:r>
              <a:rPr lang="en-US" sz="2400" i="1" dirty="0">
                <a:effectLst/>
                <a:latin typeface="BookAntiqua"/>
              </a:rPr>
              <a:t>deep binding </a:t>
            </a:r>
            <a:r>
              <a:rPr lang="en-US" sz="2400" dirty="0">
                <a:effectLst/>
                <a:latin typeface="BookAntiqua"/>
              </a:rPr>
              <a:t>is used, assuming the language is </a:t>
            </a:r>
            <a:r>
              <a:rPr lang="en-US" sz="2400" i="1" dirty="0">
                <a:effectLst/>
                <a:latin typeface="BookAntiqua"/>
              </a:rPr>
              <a:t>statically scoped</a:t>
            </a:r>
            <a:r>
              <a:rPr lang="en-US" sz="2400" dirty="0">
                <a:effectLst/>
                <a:latin typeface="BookAntiqua"/>
              </a:rPr>
              <a:t>? 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6F536D-9C5C-4234-BAAA-4B29DD280370}"/>
              </a:ext>
            </a:extLst>
          </p:cNvPr>
          <p:cNvSpPr txBox="1"/>
          <p:nvPr/>
        </p:nvSpPr>
        <p:spPr>
          <a:xfrm>
            <a:off x="6077814" y="2080736"/>
            <a:ext cx="5708073" cy="169277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BookAntiqua"/>
              </a:rPr>
              <a:t>Hint: Deep binding takes the referencing environment where the subprogram is defined in. </a:t>
            </a:r>
            <a:endParaRPr lang="en-US" sz="2400" dirty="0">
              <a:latin typeface="BookAntiqua"/>
            </a:endParaRPr>
          </a:p>
          <a:p>
            <a:endParaRPr lang="en-US" sz="3200" dirty="0">
              <a:effectLst/>
              <a:latin typeface="BookAntiqu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42A23C-952B-6B6F-A911-728D30EB6D6C}"/>
              </a:ext>
            </a:extLst>
          </p:cNvPr>
          <p:cNvSpPr txBox="1"/>
          <p:nvPr/>
        </p:nvSpPr>
        <p:spPr>
          <a:xfrm>
            <a:off x="6096000" y="4473199"/>
            <a:ext cx="6151418" cy="156966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sz="2400" dirty="0"/>
              <a:t>So, x = 1, y = 5 initially </a:t>
            </a:r>
          </a:p>
          <a:p>
            <a:r>
              <a:rPr lang="en-US" sz="2400" dirty="0"/>
              <a:t>After calling D inside C, a= 5</a:t>
            </a:r>
            <a:br>
              <a:rPr lang="en-US" sz="2400" dirty="0"/>
            </a:br>
            <a:r>
              <a:rPr lang="en-US" sz="2400" dirty="0"/>
              <a:t>b=0 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output: 5 0 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0758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677727-BEBA-5C62-CF9D-7836A6560518}"/>
              </a:ext>
            </a:extLst>
          </p:cNvPr>
          <p:cNvSpPr txBox="1"/>
          <p:nvPr/>
        </p:nvSpPr>
        <p:spPr>
          <a:xfrm>
            <a:off x="316523" y="117231"/>
            <a:ext cx="8042031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Given the following program, answer the questions below. 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program MAIN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procedure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BigSub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int b = 1, c = 3;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procedure sub1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int a = 7, d = 9;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procedure sub2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int e;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begin {sub2} 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e = a + c ;       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* )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  print(a, b, c, d, e);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end {sub2}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procedure sub3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int a = 4, c = 6;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  procedure sub4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  int b = 8, d = 10;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 begin {sub4} 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    sub2;         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  end   {sub4}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begin {sub3}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  sub4;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end   {sub3}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begin {sub1}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sub3;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end   {sub1}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begin{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BigSub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sub1;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end{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BigSub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begin {MAIN}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BigSub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end   {MAIN}</a:t>
            </a:r>
            <a:endParaRPr lang="en-US" sz="1400" b="0" dirty="0">
              <a:effectLst/>
            </a:endParaRPr>
          </a:p>
          <a:p>
            <a:br>
              <a:rPr lang="en-US" sz="1400" dirty="0"/>
            </a:br>
            <a:endParaRPr lang="en-US" sz="1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33E9EB-9263-E3D2-840B-04791E918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29820"/>
              </p:ext>
            </p:extLst>
          </p:nvPr>
        </p:nvGraphicFramePr>
        <p:xfrm>
          <a:off x="4958548" y="2606386"/>
          <a:ext cx="6800012" cy="1737360"/>
        </p:xfrm>
        <a:graphic>
          <a:graphicData uri="http://schemas.openxmlformats.org/drawingml/2006/table">
            <a:tbl>
              <a:tblPr/>
              <a:tblGrid>
                <a:gridCol w="1227108">
                  <a:extLst>
                    <a:ext uri="{9D8B030D-6E8A-4147-A177-3AD203B41FA5}">
                      <a16:colId xmlns:a16="http://schemas.microsoft.com/office/drawing/2014/main" val="975316343"/>
                    </a:ext>
                  </a:extLst>
                </a:gridCol>
                <a:gridCol w="2404530">
                  <a:extLst>
                    <a:ext uri="{9D8B030D-6E8A-4147-A177-3AD203B41FA5}">
                      <a16:colId xmlns:a16="http://schemas.microsoft.com/office/drawing/2014/main" val="2721572696"/>
                    </a:ext>
                  </a:extLst>
                </a:gridCol>
                <a:gridCol w="3168374">
                  <a:extLst>
                    <a:ext uri="{9D8B030D-6E8A-4147-A177-3AD203B41FA5}">
                      <a16:colId xmlns:a16="http://schemas.microsoft.com/office/drawing/2014/main" val="4615058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br>
                        <a:rPr lang="en-US" sz="1800" dirty="0">
                          <a:effectLst/>
                        </a:rPr>
                      </a:br>
                      <a:endParaRPr lang="en-US" sz="1800" dirty="0">
                        <a:effectLst/>
                      </a:endParaRPr>
                    </a:p>
                  </a:txBody>
                  <a:tcPr marL="73025" marR="730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chain_offset</a:t>
                      </a:r>
                      <a:endParaRPr lang="en-US" sz="1800" dirty="0">
                        <a:effectLst/>
                      </a:endParaRPr>
                    </a:p>
                  </a:txBody>
                  <a:tcPr marL="73025" marR="730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local_offset</a:t>
                      </a:r>
                      <a:endParaRPr lang="en-US" sz="1800" dirty="0">
                        <a:effectLst/>
                      </a:endParaRPr>
                    </a:p>
                  </a:txBody>
                  <a:tcPr marL="73025" marR="730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195571"/>
                  </a:ext>
                </a:extLst>
              </a:tr>
              <a:tr h="316273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1800" dirty="0">
                        <a:effectLst/>
                      </a:endParaRPr>
                    </a:p>
                  </a:txBody>
                  <a:tcPr marL="73025" marR="730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US" sz="1800" dirty="0">
                        <a:effectLst/>
                      </a:endParaRPr>
                    </a:p>
                  </a:txBody>
                  <a:tcPr marL="73025" marR="730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3 (4)</a:t>
                      </a:r>
                      <a:endParaRPr lang="en-US" sz="1800">
                        <a:effectLst/>
                      </a:endParaRPr>
                    </a:p>
                  </a:txBody>
                  <a:tcPr marL="73025" marR="730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1610422"/>
                  </a:ext>
                </a:extLst>
              </a:tr>
              <a:tr h="316273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</a:t>
                      </a:r>
                      <a:endParaRPr lang="en-US" sz="1800">
                        <a:effectLst/>
                      </a:endParaRPr>
                    </a:p>
                  </a:txBody>
                  <a:tcPr marL="73025" marR="730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US" sz="1800">
                        <a:effectLst/>
                      </a:endParaRPr>
                    </a:p>
                  </a:txBody>
                  <a:tcPr marL="73025" marR="730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4 (5)</a:t>
                      </a:r>
                      <a:endParaRPr lang="en-US" sz="1800">
                        <a:effectLst/>
                      </a:endParaRPr>
                    </a:p>
                  </a:txBody>
                  <a:tcPr marL="73025" marR="730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8330490"/>
                  </a:ext>
                </a:extLst>
              </a:tr>
              <a:tr h="316273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</a:t>
                      </a:r>
                      <a:endParaRPr lang="en-US" sz="1800" dirty="0">
                        <a:effectLst/>
                      </a:endParaRPr>
                    </a:p>
                  </a:txBody>
                  <a:tcPr marL="73025" marR="730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en-US" sz="1800">
                        <a:effectLst/>
                      </a:endParaRPr>
                    </a:p>
                  </a:txBody>
                  <a:tcPr marL="73025" marR="730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3 (4)</a:t>
                      </a:r>
                      <a:endParaRPr lang="en-US" sz="1800" dirty="0">
                        <a:effectLst/>
                      </a:endParaRPr>
                    </a:p>
                  </a:txBody>
                  <a:tcPr marL="73025" marR="730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4438774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C44FD999-CC7D-FB3A-BD62-EB2E9AAC9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7710" y="376498"/>
            <a:ext cx="8354290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Assuming that static scoping is used, what will be the output of the program?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7 1 3 9 10</a:t>
            </a: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Give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chain_offset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local_offset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pairs at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point *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the following variables 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Assuming that dynamic scoping is used, what is the output of the program?  </a:t>
            </a: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Note that the calling sequence is MAIN-&gt;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BigSub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-&gt;sub1-&gt;sub3-&gt;sub4-&gt;sub2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4 8 6 10 10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572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677727-BEBA-5C62-CF9D-7836A6560518}"/>
              </a:ext>
            </a:extLst>
          </p:cNvPr>
          <p:cNvSpPr txBox="1"/>
          <p:nvPr/>
        </p:nvSpPr>
        <p:spPr>
          <a:xfrm>
            <a:off x="316523" y="117231"/>
            <a:ext cx="8042031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Given the following program, answer the questions below. 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program MAIN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procedure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BigSub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int b = 1, c = 3;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procedure sub1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int a = 7, d = 9;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procedure sub2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int e;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begin {sub2} 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e = a + c ;       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* )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  print(a, b, c, d, e);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end {sub2}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procedure sub3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int a = 4, c = 6;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  procedure sub4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  int b = 8, d = 10;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 begin {sub4} 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    sub2;         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  end   {sub4}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begin {sub3}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  sub4;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end   {sub3}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begin {sub1}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 sub3;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end   {sub1}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begin{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BigSub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sub1;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end{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BigSub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begin {MAIN}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BigSub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end   {MAIN}</a:t>
            </a:r>
            <a:endParaRPr lang="en-US" sz="1400" b="0" dirty="0">
              <a:effectLst/>
            </a:endParaRPr>
          </a:p>
          <a:p>
            <a:br>
              <a:rPr lang="en-US" sz="1400" dirty="0"/>
            </a:br>
            <a:endParaRPr lang="en-US" sz="140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44FD999-CC7D-FB3A-BD62-EB2E9AAC9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6951" y="581053"/>
            <a:ext cx="774362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Assume that dynamic scoping is implemented using the shallow-access method with a stack for each variable name. Show the contents of stacks (subprogram  names) associated with the  variable names {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a,b,c,d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} at the time of the execution of sub2 (when execution reaches to *).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BD1D4D-2E6E-3D83-16E0-266692268F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451745"/>
              </p:ext>
            </p:extLst>
          </p:nvPr>
        </p:nvGraphicFramePr>
        <p:xfrm>
          <a:off x="3747477" y="4471132"/>
          <a:ext cx="8128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76733003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4762881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3575568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0724317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006183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Book Antiqua" panose="02040602050305030304" pitchFamily="18" charset="0"/>
                        </a:rPr>
                        <a:t>Sub3 - 4 </a:t>
                      </a:r>
                      <a:endParaRPr lang="en-US" sz="1800" dirty="0">
                        <a:effectLst/>
                      </a:endParaRPr>
                    </a:p>
                  </a:txBody>
                  <a:tcPr marL="73025" marR="730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FF0000"/>
                          </a:solidFill>
                          <a:effectLst/>
                          <a:latin typeface="Book Antiqua" panose="02040602050305030304" pitchFamily="18" charset="0"/>
                        </a:rPr>
                        <a:t>Sub4 - 8</a:t>
                      </a:r>
                      <a:endParaRPr lang="en-US" sz="1800">
                        <a:effectLst/>
                      </a:endParaRPr>
                    </a:p>
                  </a:txBody>
                  <a:tcPr marL="73025" marR="730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Book Antiqua" panose="02040602050305030304" pitchFamily="18" charset="0"/>
                        </a:rPr>
                        <a:t>Sub3 - 6 </a:t>
                      </a:r>
                      <a:endParaRPr lang="en-US" sz="1800" dirty="0">
                        <a:effectLst/>
                      </a:endParaRPr>
                    </a:p>
                  </a:txBody>
                  <a:tcPr marL="73025" marR="730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Book Antiqua" panose="02040602050305030304" pitchFamily="18" charset="0"/>
                        </a:rPr>
                        <a:t>Sub4 - 10</a:t>
                      </a:r>
                      <a:endParaRPr lang="en-US" sz="1800" dirty="0">
                        <a:effectLst/>
                      </a:endParaRPr>
                    </a:p>
                  </a:txBody>
                  <a:tcPr marL="73025" marR="730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423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FF0000"/>
                          </a:solidFill>
                          <a:effectLst/>
                          <a:latin typeface="Book Antiqua" panose="02040602050305030304" pitchFamily="18" charset="0"/>
                        </a:rPr>
                        <a:t>Sub1 - 7 </a:t>
                      </a:r>
                      <a:endParaRPr lang="en-US" sz="1800">
                        <a:effectLst/>
                      </a:endParaRPr>
                    </a:p>
                  </a:txBody>
                  <a:tcPr marL="73025" marR="730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FF0000"/>
                          </a:solidFill>
                          <a:effectLst/>
                          <a:latin typeface="Book Antiqua" panose="02040602050305030304" pitchFamily="18" charset="0"/>
                        </a:rPr>
                        <a:t>BigSub - 1</a:t>
                      </a:r>
                      <a:endParaRPr lang="en-US" sz="1800">
                        <a:effectLst/>
                      </a:endParaRPr>
                    </a:p>
                  </a:txBody>
                  <a:tcPr marL="73025" marR="730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FF0000"/>
                          </a:solidFill>
                          <a:effectLst/>
                          <a:latin typeface="Book Antiqua" panose="02040602050305030304" pitchFamily="18" charset="0"/>
                        </a:rPr>
                        <a:t>BigSub - 3</a:t>
                      </a:r>
                      <a:endParaRPr lang="en-US" sz="1800">
                        <a:effectLst/>
                      </a:endParaRPr>
                    </a:p>
                  </a:txBody>
                  <a:tcPr marL="73025" marR="730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Book Antiqua" panose="02040602050305030304" pitchFamily="18" charset="0"/>
                        </a:rPr>
                        <a:t>Sub1 - 9 </a:t>
                      </a:r>
                      <a:endParaRPr lang="en-US" sz="1800" dirty="0">
                        <a:effectLst/>
                      </a:endParaRPr>
                    </a:p>
                  </a:txBody>
                  <a:tcPr marL="73025" marR="730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Sub2 (4+6=10)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548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FF0000"/>
                          </a:solidFill>
                          <a:effectLst/>
                          <a:latin typeface="Book Antiqua" panose="02040602050305030304" pitchFamily="18" charset="0"/>
                        </a:rPr>
                        <a:t>a</a:t>
                      </a:r>
                      <a:endParaRPr lang="en-US" sz="1800">
                        <a:effectLst/>
                      </a:endParaRPr>
                    </a:p>
                  </a:txBody>
                  <a:tcPr marL="73025" marR="730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FF0000"/>
                          </a:solidFill>
                          <a:effectLst/>
                          <a:latin typeface="Book Antiqua" panose="02040602050305030304" pitchFamily="18" charset="0"/>
                        </a:rPr>
                        <a:t>b</a:t>
                      </a:r>
                      <a:endParaRPr lang="en-US" sz="1800">
                        <a:effectLst/>
                      </a:endParaRPr>
                    </a:p>
                  </a:txBody>
                  <a:tcPr marL="73025" marR="730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Book Antiqua" panose="02040602050305030304" pitchFamily="18" charset="0"/>
                        </a:rPr>
                        <a:t>c</a:t>
                      </a:r>
                      <a:endParaRPr lang="en-US" sz="1800" dirty="0">
                        <a:effectLst/>
                      </a:endParaRPr>
                    </a:p>
                  </a:txBody>
                  <a:tcPr marL="73025" marR="730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Book Antiqua" panose="02040602050305030304" pitchFamily="18" charset="0"/>
                        </a:rPr>
                        <a:t>d</a:t>
                      </a:r>
                      <a:endParaRPr lang="en-US" sz="1800" dirty="0">
                        <a:effectLst/>
                      </a:endParaRPr>
                    </a:p>
                  </a:txBody>
                  <a:tcPr marL="73025" marR="730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745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462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1631</Words>
  <Application>Microsoft Macintosh PowerPoint</Application>
  <PresentationFormat>Widescreen</PresentationFormat>
  <Paragraphs>229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Book Antiqua</vt:lpstr>
      <vt:lpstr>BookAntiqua</vt:lpstr>
      <vt:lpstr>Calibri</vt:lpstr>
      <vt:lpstr>Calibri Light</vt:lpstr>
      <vt:lpstr>Cambria</vt:lpstr>
      <vt:lpstr>Courier New</vt:lpstr>
      <vt:lpstr>Georgia</vt:lpstr>
      <vt:lpstr>Times New Roman</vt:lpstr>
      <vt:lpstr>Office Theme</vt:lpstr>
      <vt:lpstr>Midterm 2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Questions</dc:title>
  <dc:creator>Microsoft Office User</dc:creator>
  <cp:lastModifiedBy>Nazlı İkizler</cp:lastModifiedBy>
  <cp:revision>48</cp:revision>
  <dcterms:created xsi:type="dcterms:W3CDTF">2022-11-09T19:34:36Z</dcterms:created>
  <dcterms:modified xsi:type="dcterms:W3CDTF">2024-12-04T15:15:55Z</dcterms:modified>
</cp:coreProperties>
</file>